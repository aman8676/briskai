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‹#›</a:t>
            </a:fld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‹#›</a:t>
            </a:fld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‹#›</a:t>
            </a:fld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‹#›</a:t>
            </a:fld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‹#›</a:t>
            </a:fld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12948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36132" y="209010"/>
            <a:ext cx="617918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799" y="1210183"/>
            <a:ext cx="7998400" cy="4529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28505" y="6280355"/>
            <a:ext cx="333427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‹#›</a:t>
            </a:fld>
            <a:endParaRPr sz="1300">
              <a:latin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1860" y="887838"/>
            <a:ext cx="5918200" cy="552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3205" marR="150495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Learning </a:t>
            </a:r>
            <a:r>
              <a:rPr sz="2800" b="1" spc="-10" dirty="0">
                <a:latin typeface="Times New Roman"/>
                <a:cs typeface="Times New Roman"/>
              </a:rPr>
              <a:t>Resource </a:t>
            </a:r>
            <a:r>
              <a:rPr sz="2800" b="1" spc="-25" dirty="0">
                <a:latin typeface="Times New Roman"/>
                <a:cs typeface="Times New Roman"/>
              </a:rPr>
              <a:t>On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Software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25"/>
              </a:spcBef>
            </a:pPr>
            <a:endParaRPr sz="28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2800" b="1" spc="-20" dirty="0">
                <a:latin typeface="Times New Roman"/>
                <a:cs typeface="Times New Roman"/>
              </a:rPr>
              <a:t>Unit-</a:t>
            </a:r>
            <a:r>
              <a:rPr sz="2800" b="1" spc="-50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2800" b="1" dirty="0">
                <a:latin typeface="Times New Roman"/>
                <a:cs typeface="Times New Roman"/>
              </a:rPr>
              <a:t>Software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Monitoring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Measurements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800">
              <a:latin typeface="Times New Roman"/>
              <a:cs typeface="Times New Roman"/>
            </a:endParaRPr>
          </a:p>
          <a:p>
            <a:pPr marL="1927225" marR="1918970" indent="1270" algn="ctr">
              <a:lnSpc>
                <a:spcPct val="116700"/>
              </a:lnSpc>
            </a:pPr>
            <a:r>
              <a:rPr sz="2800" b="1" dirty="0">
                <a:latin typeface="Times New Roman"/>
                <a:cs typeface="Times New Roman"/>
              </a:rPr>
              <a:t>Prepared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By: </a:t>
            </a:r>
            <a:r>
              <a:rPr sz="2800" b="1" dirty="0">
                <a:latin typeface="Times New Roman"/>
                <a:cs typeface="Times New Roman"/>
              </a:rPr>
              <a:t>Kunal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Anand</a:t>
            </a:r>
            <a:endParaRPr sz="2800">
              <a:latin typeface="Times New Roman"/>
              <a:cs typeface="Times New Roman"/>
            </a:endParaRPr>
          </a:p>
          <a:p>
            <a:pPr marL="845819" marR="835660" indent="-1270" algn="ctr">
              <a:lnSpc>
                <a:spcPts val="392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Assistant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Professor,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SCE </a:t>
            </a:r>
            <a:r>
              <a:rPr sz="2800" b="1" dirty="0">
                <a:latin typeface="Times New Roman"/>
                <a:cs typeface="Times New Roman"/>
              </a:rPr>
              <a:t>KIIT,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DU,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Bhubaneswar-</a:t>
            </a:r>
            <a:r>
              <a:rPr sz="2800" b="1" spc="-25" dirty="0">
                <a:latin typeface="Times New Roman"/>
                <a:cs typeface="Times New Roman"/>
              </a:rPr>
              <a:t>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0616" rIns="0" bIns="0" rtlCol="0">
            <a:spAutoFit/>
          </a:bodyPr>
          <a:lstStyle/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1</a:t>
            </a:fld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59404" y="228924"/>
            <a:ext cx="146431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spc="-10" dirty="0"/>
              <a:t>Talkflow</a:t>
            </a:r>
            <a:endParaRPr sz="29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0616" rIns="0" bIns="0" rtlCol="0">
            <a:spAutoFit/>
          </a:bodyPr>
          <a:lstStyle/>
          <a:p>
            <a:pPr marL="142240">
              <a:lnSpc>
                <a:spcPts val="1530"/>
              </a:lnSpc>
            </a:pPr>
            <a:r>
              <a:rPr sz="1300" spc="-25" dirty="0">
                <a:solidFill>
                  <a:srgbClr val="FFFF99"/>
                </a:solidFill>
              </a:rPr>
              <a:t>•</a:t>
            </a:r>
            <a:fld id="{81D60167-4931-47E6-BA6A-407CBD079E47}" type="slidenum">
              <a:rPr sz="1300" spc="-25" dirty="0">
                <a:solidFill>
                  <a:srgbClr val="FFFF99"/>
                </a:solidFill>
                <a:latin typeface="Times New Roman"/>
                <a:cs typeface="Times New Roman"/>
              </a:rPr>
              <a:t>2</a:t>
            </a:fld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492" y="852754"/>
            <a:ext cx="7712709" cy="554101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06070" indent="-293370">
              <a:lnSpc>
                <a:spcPct val="100000"/>
              </a:lnSpc>
              <a:spcBef>
                <a:spcPts val="65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Introduction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Monitoring</a:t>
            </a:r>
            <a:r>
              <a:rPr sz="2550" spc="7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Measurements</a:t>
            </a:r>
            <a:r>
              <a:rPr sz="2550" spc="7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(M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&amp;</a:t>
            </a:r>
            <a:r>
              <a:rPr sz="2550" spc="7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M)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Purpose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of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&amp;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M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2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&amp;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M???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55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Key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metrics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software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development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Cost,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Size,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Time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metrics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Methods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software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project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metrics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Tools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metrics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SPM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Monitoring</a:t>
            </a:r>
            <a:r>
              <a:rPr sz="2550" spc="1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responsibility</a:t>
            </a:r>
            <a:r>
              <a:rPr sz="2550" spc="13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chain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55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Assessing</a:t>
            </a:r>
            <a:r>
              <a:rPr sz="2550" spc="10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progress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Project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Review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Earned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Value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analysis</a:t>
            </a:r>
            <a:endParaRPr sz="2550">
              <a:latin typeface="Times New Roman"/>
              <a:cs typeface="Times New Roman"/>
            </a:endParaRPr>
          </a:p>
          <a:p>
            <a:pPr marL="306070" indent="-293370">
              <a:lnSpc>
                <a:spcPct val="100000"/>
              </a:lnSpc>
              <a:spcBef>
                <a:spcPts val="560"/>
              </a:spcBef>
              <a:buChar char="•"/>
              <a:tabLst>
                <a:tab pos="306070" algn="l"/>
              </a:tabLst>
            </a:pPr>
            <a:r>
              <a:rPr sz="2550" dirty="0">
                <a:latin typeface="Times New Roman"/>
                <a:cs typeface="Times New Roman"/>
              </a:rPr>
              <a:t>Change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control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164" y="-34829"/>
            <a:ext cx="704469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</a:pPr>
            <a:r>
              <a:rPr dirty="0"/>
              <a:t>Monitoring</a:t>
            </a:r>
            <a:r>
              <a:rPr spc="-50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dirty="0"/>
              <a:t>Measurement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Software</a:t>
            </a:r>
          </a:p>
          <a:p>
            <a:pPr marR="5080" algn="r">
              <a:lnSpc>
                <a:spcPct val="100000"/>
              </a:lnSpc>
            </a:pPr>
            <a:r>
              <a:rPr spc="-10" dirty="0"/>
              <a:t>Development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5915" y="1013333"/>
            <a:ext cx="8031480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6985" indent="-29591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09880" algn="l"/>
              </a:tabLst>
            </a:pPr>
            <a:r>
              <a:rPr sz="2400" b="1" dirty="0">
                <a:latin typeface="Times New Roman"/>
                <a:cs typeface="Times New Roman"/>
              </a:rPr>
              <a:t>Monitoring</a:t>
            </a:r>
            <a:r>
              <a:rPr sz="2400" b="1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Measurement</a:t>
            </a:r>
            <a:r>
              <a:rPr sz="2400" b="1" spc="26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(M</a:t>
            </a:r>
            <a:r>
              <a:rPr sz="2400" b="1" spc="25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&amp;</a:t>
            </a:r>
            <a:r>
              <a:rPr sz="2400" b="1" spc="254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M)</a:t>
            </a:r>
            <a:r>
              <a:rPr sz="2400" b="1" spc="2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Software 	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part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SPM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software 	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improvement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07975" marR="5080" indent="-295910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M,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development,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essential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evaluating 	</a:t>
            </a:r>
            <a:r>
              <a:rPr sz="2400" dirty="0">
                <a:latin typeface="Times New Roman"/>
                <a:cs typeface="Times New Roman"/>
              </a:rPr>
              <a:t>progress,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quality,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objectives.</a:t>
            </a:r>
            <a:endParaRPr sz="2400">
              <a:latin typeface="Times New Roman"/>
              <a:cs typeface="Times New Roman"/>
            </a:endParaRPr>
          </a:p>
          <a:p>
            <a:pPr marL="309880" indent="-297180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09880" algn="l"/>
              </a:tabLst>
            </a:pPr>
            <a:r>
              <a:rPr sz="2400" b="1" dirty="0">
                <a:latin typeface="Times New Roman"/>
                <a:cs typeface="Times New Roman"/>
              </a:rPr>
              <a:t>Purpose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below:</a:t>
            </a:r>
            <a:endParaRPr sz="2400">
              <a:latin typeface="Times New Roman"/>
              <a:cs typeface="Times New Roman"/>
            </a:endParaRPr>
          </a:p>
          <a:p>
            <a:pPr marL="709930" marR="1219200" lvl="1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709930" algn="l"/>
              </a:tabLst>
            </a:pP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cost, </a:t>
            </a:r>
            <a:r>
              <a:rPr sz="2400" b="1" dirty="0">
                <a:latin typeface="Times New Roman"/>
                <a:cs typeface="Times New Roman"/>
              </a:rPr>
              <a:t>schedule,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scope,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quality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dirty="0">
                <a:latin typeface="Times New Roman"/>
                <a:cs typeface="Times New Roman"/>
              </a:rPr>
              <a:t>Detect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corrective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actions.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decision-</a:t>
            </a:r>
            <a:r>
              <a:rPr sz="2400" spc="-10" dirty="0">
                <a:latin typeface="Times New Roman"/>
                <a:cs typeface="Times New Roman"/>
              </a:rPr>
              <a:t>making.</a:t>
            </a:r>
            <a:endParaRPr sz="2400">
              <a:latin typeface="Times New Roman"/>
              <a:cs typeface="Times New Roman"/>
            </a:endParaRPr>
          </a:p>
          <a:p>
            <a:pPr marL="709930" marR="1048385" lvl="1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709930" algn="l"/>
              </a:tabLst>
            </a:pPr>
            <a:r>
              <a:rPr sz="2400" dirty="0">
                <a:latin typeface="Times New Roman"/>
                <a:cs typeface="Times New Roman"/>
              </a:rPr>
              <a:t>Support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improvement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compliance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standards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ISO/IEC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12207,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CMMI).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431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spc="-20" dirty="0"/>
              <a:t>M???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125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0225" y="914272"/>
            <a:ext cx="8047990" cy="532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355600" algn="l"/>
                <a:tab pos="384810" algn="l"/>
              </a:tabLst>
            </a:pPr>
            <a:r>
              <a:rPr sz="2400" b="1" dirty="0">
                <a:latin typeface="Times New Roman"/>
                <a:cs typeface="Times New Roman"/>
              </a:rPr>
              <a:t>	Project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Progress: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Schedule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actual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tasks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(Gantt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burn-</a:t>
            </a:r>
            <a:r>
              <a:rPr sz="2400" dirty="0">
                <a:latin typeface="Times New Roman"/>
                <a:cs typeface="Times New Roman"/>
              </a:rPr>
              <a:t>down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chart);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Effort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Person-</a:t>
            </a:r>
            <a:r>
              <a:rPr sz="2400" dirty="0">
                <a:latin typeface="Times New Roman"/>
                <a:cs typeface="Times New Roman"/>
              </a:rPr>
              <a:t>hours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person-</a:t>
            </a:r>
            <a:r>
              <a:rPr sz="2400" dirty="0">
                <a:latin typeface="Times New Roman"/>
                <a:cs typeface="Times New Roman"/>
              </a:rPr>
              <a:t>days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consumed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estimated; </a:t>
            </a:r>
            <a:r>
              <a:rPr sz="2400" b="1" dirty="0">
                <a:latin typeface="Times New Roman"/>
                <a:cs typeface="Times New Roman"/>
              </a:rPr>
              <a:t>Cost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vs. </a:t>
            </a:r>
            <a:r>
              <a:rPr sz="2400" dirty="0">
                <a:latin typeface="Times New Roman"/>
                <a:cs typeface="Times New Roman"/>
              </a:rPr>
              <a:t>allocated </a:t>
            </a:r>
            <a:r>
              <a:rPr sz="2400" spc="-10" dirty="0">
                <a:latin typeface="Times New Roman"/>
                <a:cs typeface="Times New Roman"/>
              </a:rPr>
              <a:t>budget.</a:t>
            </a:r>
            <a:endParaRPr sz="2400">
              <a:latin typeface="Times New Roman"/>
              <a:cs typeface="Times New Roman"/>
            </a:endParaRPr>
          </a:p>
          <a:p>
            <a:pPr marL="355600" marR="165735" indent="-342900">
              <a:lnSpc>
                <a:spcPct val="100000"/>
              </a:lnSpc>
              <a:spcBef>
                <a:spcPts val="480"/>
              </a:spcBef>
              <a:buAutoNum type="alphaUcPeriod"/>
              <a:tabLst>
                <a:tab pos="355600" algn="l"/>
                <a:tab pos="368300" algn="l"/>
              </a:tabLst>
            </a:pPr>
            <a:r>
              <a:rPr sz="2400" b="1" dirty="0">
                <a:latin typeface="Times New Roman"/>
                <a:cs typeface="Times New Roman"/>
              </a:rPr>
              <a:t>	Product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Quality: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Defect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density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per </a:t>
            </a:r>
            <a:r>
              <a:rPr sz="2400" dirty="0">
                <a:latin typeface="Times New Roman"/>
                <a:cs typeface="Times New Roman"/>
              </a:rPr>
              <a:t>KLOC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(thousand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point; </a:t>
            </a:r>
            <a:r>
              <a:rPr sz="2400" b="1" spc="-10" dirty="0">
                <a:latin typeface="Times New Roman"/>
                <a:cs typeface="Times New Roman"/>
              </a:rPr>
              <a:t>Defect </a:t>
            </a:r>
            <a:r>
              <a:rPr sz="2400" b="1" dirty="0">
                <a:latin typeface="Times New Roman"/>
                <a:cs typeface="Times New Roman"/>
              </a:rPr>
              <a:t>leakage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development.; </a:t>
            </a:r>
            <a:r>
              <a:rPr sz="2400" b="1" dirty="0">
                <a:latin typeface="Times New Roman"/>
                <a:cs typeface="Times New Roman"/>
              </a:rPr>
              <a:t>Test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coverage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Percentage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tested.</a:t>
            </a:r>
            <a:endParaRPr sz="2400">
              <a:latin typeface="Times New Roman"/>
              <a:cs typeface="Times New Roman"/>
            </a:endParaRPr>
          </a:p>
          <a:p>
            <a:pPr marL="355600" marR="12700" indent="-342900">
              <a:lnSpc>
                <a:spcPct val="100000"/>
              </a:lnSpc>
              <a:spcBef>
                <a:spcPts val="480"/>
              </a:spcBef>
              <a:buAutoNum type="alphaUcPeriod"/>
              <a:tabLst>
                <a:tab pos="355600" algn="l"/>
                <a:tab pos="393065" algn="l"/>
              </a:tabLst>
            </a:pPr>
            <a:r>
              <a:rPr sz="2400" b="1" dirty="0">
                <a:latin typeface="Times New Roman"/>
                <a:cs typeface="Times New Roman"/>
              </a:rPr>
              <a:t>	Process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Performance: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Productivity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LOC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person-</a:t>
            </a:r>
            <a:r>
              <a:rPr sz="2400" dirty="0">
                <a:latin typeface="Times New Roman"/>
                <a:cs typeface="Times New Roman"/>
              </a:rPr>
              <a:t>month;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Rework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effort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effort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fixing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defects;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compliance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Adherence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defined </a:t>
            </a:r>
            <a:r>
              <a:rPr sz="2400" dirty="0">
                <a:latin typeface="Times New Roman"/>
                <a:cs typeface="Times New Roman"/>
              </a:rPr>
              <a:t>workflows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standards.</a:t>
            </a:r>
            <a:endParaRPr sz="2400">
              <a:latin typeface="Times New Roman"/>
              <a:cs typeface="Times New Roman"/>
            </a:endParaRPr>
          </a:p>
          <a:p>
            <a:pPr marL="355600" marR="400685" indent="-342900">
              <a:lnSpc>
                <a:spcPct val="100000"/>
              </a:lnSpc>
              <a:spcBef>
                <a:spcPts val="480"/>
              </a:spcBef>
              <a:buAutoNum type="alphaUcPeriod"/>
              <a:tabLst>
                <a:tab pos="355600" algn="l"/>
                <a:tab pos="384810" algn="l"/>
              </a:tabLst>
            </a:pPr>
            <a:r>
              <a:rPr sz="2400" b="1" dirty="0">
                <a:latin typeface="Times New Roman"/>
                <a:cs typeface="Times New Roman"/>
              </a:rPr>
              <a:t>	Risk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Indicators: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issues;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High-</a:t>
            </a:r>
            <a:r>
              <a:rPr sz="2400" spc="-20" dirty="0">
                <a:latin typeface="Times New Roman"/>
                <a:cs typeface="Times New Roman"/>
              </a:rPr>
              <a:t>risk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identified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monitored;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exposure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index.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0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915" y="843787"/>
            <a:ext cx="8030209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marR="2889885" indent="-297180">
              <a:lnSpc>
                <a:spcPct val="116700"/>
              </a:lnSpc>
              <a:spcBef>
                <a:spcPts val="100"/>
              </a:spcBef>
              <a:buChar char="•"/>
              <a:tabLst>
                <a:tab pos="424180" algn="l"/>
                <a:tab pos="709295" algn="l"/>
              </a:tabLst>
            </a:pPr>
            <a:r>
              <a:rPr sz="2400" b="1" dirty="0">
                <a:latin typeface="Times New Roman"/>
                <a:cs typeface="Times New Roman"/>
              </a:rPr>
              <a:t>Key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metrics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development 	</a:t>
            </a:r>
            <a:r>
              <a:rPr sz="2400" b="1" spc="-50" dirty="0">
                <a:latin typeface="Times New Roman"/>
                <a:cs typeface="Times New Roman"/>
              </a:rPr>
              <a:t>–</a:t>
            </a:r>
            <a:r>
              <a:rPr sz="2400" b="1" dirty="0">
                <a:latin typeface="Times New Roman"/>
                <a:cs typeface="Times New Roman"/>
              </a:rPr>
              <a:t>	Process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metrics</a:t>
            </a:r>
            <a:endParaRPr sz="2400">
              <a:latin typeface="Times New Roman"/>
              <a:cs typeface="Times New Roman"/>
            </a:endParaRPr>
          </a:p>
          <a:p>
            <a:pPr marL="1109980" marR="41910" lvl="1" indent="-183515">
              <a:lnSpc>
                <a:spcPct val="100000"/>
              </a:lnSpc>
              <a:spcBef>
                <a:spcPts val="480"/>
              </a:spcBef>
              <a:buChar char="•"/>
              <a:tabLst>
                <a:tab pos="1109980" algn="l"/>
                <a:tab pos="2432050" algn="l"/>
                <a:tab pos="3583940" algn="l"/>
                <a:tab pos="3992245" algn="l"/>
                <a:tab pos="4773295" algn="l"/>
                <a:tab pos="6197600" algn="l"/>
                <a:tab pos="6589395" algn="l"/>
                <a:tab pos="6878955" algn="l"/>
                <a:tab pos="77260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Velocity: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Amount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work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completed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sprint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spc="-10" dirty="0">
                <a:latin typeface="Times New Roman"/>
                <a:cs typeface="Times New Roman"/>
              </a:rPr>
              <a:t>iteration.</a:t>
            </a:r>
            <a:endParaRPr sz="2400">
              <a:latin typeface="Times New Roman"/>
              <a:cs typeface="Times New Roman"/>
            </a:endParaRPr>
          </a:p>
          <a:p>
            <a:pPr marL="1109980" marR="5080" lvl="1" indent="-183515">
              <a:lnSpc>
                <a:spcPct val="100000"/>
              </a:lnSpc>
              <a:spcBef>
                <a:spcPts val="480"/>
              </a:spcBef>
              <a:buChar char="•"/>
              <a:tabLst>
                <a:tab pos="1109980" algn="l"/>
              </a:tabLst>
            </a:pPr>
            <a:r>
              <a:rPr sz="2400" b="1" dirty="0">
                <a:latin typeface="Times New Roman"/>
                <a:cs typeface="Times New Roman"/>
              </a:rPr>
              <a:t>Cycle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Time: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finish.</a:t>
            </a:r>
            <a:endParaRPr sz="2400">
              <a:latin typeface="Times New Roman"/>
              <a:cs typeface="Times New Roman"/>
            </a:endParaRPr>
          </a:p>
          <a:p>
            <a:pPr marL="1109980" lvl="1" indent="-182880">
              <a:lnSpc>
                <a:spcPct val="100000"/>
              </a:lnSpc>
              <a:spcBef>
                <a:spcPts val="480"/>
              </a:spcBef>
              <a:buChar char="•"/>
              <a:tabLst>
                <a:tab pos="1109980" algn="l"/>
              </a:tabLst>
            </a:pPr>
            <a:r>
              <a:rPr sz="2400" b="1" dirty="0">
                <a:latin typeface="Times New Roman"/>
                <a:cs typeface="Times New Roman"/>
              </a:rPr>
              <a:t>Lead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delivery.</a:t>
            </a:r>
            <a:endParaRPr sz="2400">
              <a:latin typeface="Times New Roman"/>
              <a:cs typeface="Times New Roman"/>
            </a:endParaRPr>
          </a:p>
          <a:p>
            <a:pPr marL="1109980" lvl="1" indent="-182880">
              <a:lnSpc>
                <a:spcPct val="100000"/>
              </a:lnSpc>
              <a:spcBef>
                <a:spcPts val="480"/>
              </a:spcBef>
              <a:buChar char="•"/>
              <a:tabLst>
                <a:tab pos="1109980" algn="l"/>
                <a:tab pos="2086610" algn="l"/>
                <a:tab pos="2555875" algn="l"/>
                <a:tab pos="3904615" algn="l"/>
                <a:tab pos="5035550" algn="l"/>
                <a:tab pos="5961380" algn="l"/>
                <a:tab pos="727710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Work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in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Progress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(WIP):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Tasks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currently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425" y="4074667"/>
            <a:ext cx="7369809" cy="24638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/>
                <a:cs typeface="Times New Roman"/>
              </a:rPr>
              <a:t>worked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on.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297815" algn="l"/>
              </a:tabLst>
            </a:pPr>
            <a:r>
              <a:rPr sz="2400" b="1" dirty="0">
                <a:latin typeface="Times New Roman"/>
                <a:cs typeface="Times New Roman"/>
              </a:rPr>
              <a:t>Product </a:t>
            </a:r>
            <a:r>
              <a:rPr sz="2400" b="1" spc="-10" dirty="0">
                <a:latin typeface="Times New Roman"/>
                <a:cs typeface="Times New Roman"/>
              </a:rPr>
              <a:t>metrics</a:t>
            </a:r>
            <a:endParaRPr sz="2400">
              <a:latin typeface="Times New Roman"/>
              <a:cs typeface="Times New Roman"/>
            </a:endParaRPr>
          </a:p>
          <a:p>
            <a:pPr marL="698500" marR="5080" lvl="1" indent="-183515">
              <a:lnSpc>
                <a:spcPct val="100000"/>
              </a:lnSpc>
              <a:spcBef>
                <a:spcPts val="480"/>
              </a:spcBef>
              <a:buChar char="•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Defect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Density: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spc="-10" dirty="0">
                <a:latin typeface="Times New Roman"/>
                <a:cs typeface="Times New Roman"/>
              </a:rPr>
              <a:t>functionality.</a:t>
            </a:r>
            <a:endParaRPr sz="2400">
              <a:latin typeface="Times New Roman"/>
              <a:cs typeface="Times New Roman"/>
            </a:endParaRPr>
          </a:p>
          <a:p>
            <a:pPr marL="698500" marR="1012825" lvl="1" indent="-183515">
              <a:lnSpc>
                <a:spcPct val="100000"/>
              </a:lnSpc>
              <a:spcBef>
                <a:spcPts val="480"/>
              </a:spcBef>
              <a:buChar char="•"/>
              <a:tabLst>
                <a:tab pos="698500" algn="l"/>
              </a:tabLst>
            </a:pPr>
            <a:r>
              <a:rPr sz="2400" b="1" dirty="0">
                <a:latin typeface="Times New Roman"/>
                <a:cs typeface="Times New Roman"/>
              </a:rPr>
              <a:t>Code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Coverage: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Percentage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tested</a:t>
            </a:r>
            <a:r>
              <a:rPr sz="2400" spc="-25" dirty="0">
                <a:latin typeface="Times New Roman"/>
                <a:cs typeface="Times New Roman"/>
              </a:rPr>
              <a:t> by </a:t>
            </a:r>
            <a:r>
              <a:rPr sz="2400" dirty="0">
                <a:latin typeface="Times New Roman"/>
                <a:cs typeface="Times New Roman"/>
              </a:rPr>
              <a:t>automated </a:t>
            </a:r>
            <a:r>
              <a:rPr sz="2400" spc="-10" dirty="0">
                <a:latin typeface="Times New Roman"/>
                <a:cs typeface="Times New Roman"/>
              </a:rPr>
              <a:t>tests.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7333" y="6263513"/>
            <a:ext cx="186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•5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0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7449" y="911478"/>
            <a:ext cx="7614284" cy="293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6595" marR="21590" indent="-186055">
              <a:lnSpc>
                <a:spcPct val="100000"/>
              </a:lnSpc>
              <a:spcBef>
                <a:spcPts val="100"/>
              </a:spcBef>
              <a:buChar char="•"/>
              <a:tabLst>
                <a:tab pos="697865" algn="l"/>
              </a:tabLst>
            </a:pPr>
            <a:r>
              <a:rPr sz="2200" b="1" dirty="0">
                <a:latin typeface="Times New Roman"/>
                <a:cs typeface="Times New Roman"/>
              </a:rPr>
              <a:t>Technical</a:t>
            </a:r>
            <a:r>
              <a:rPr sz="2200" b="1" spc="3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Debt:</a:t>
            </a:r>
            <a:r>
              <a:rPr sz="2200" b="1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Amount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effort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needed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fix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codebase 	issues.</a:t>
            </a:r>
            <a:endParaRPr sz="2200">
              <a:latin typeface="Times New Roman"/>
              <a:cs typeface="Times New Roman"/>
            </a:endParaRPr>
          </a:p>
          <a:p>
            <a:pPr marL="696595" marR="5080" indent="-186055">
              <a:lnSpc>
                <a:spcPct val="100000"/>
              </a:lnSpc>
              <a:spcBef>
                <a:spcPts val="440"/>
              </a:spcBef>
              <a:buChar char="•"/>
              <a:tabLst>
                <a:tab pos="697865" algn="l"/>
              </a:tabLst>
            </a:pPr>
            <a:r>
              <a:rPr sz="2200" b="1" dirty="0">
                <a:latin typeface="Times New Roman"/>
                <a:cs typeface="Times New Roman"/>
              </a:rPr>
              <a:t>Mean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Time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to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Failure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(MTTF):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Average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software 	</a:t>
            </a:r>
            <a:r>
              <a:rPr sz="2200" dirty="0">
                <a:latin typeface="Times New Roman"/>
                <a:cs typeface="Times New Roman"/>
              </a:rPr>
              <a:t>operates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failing</a:t>
            </a:r>
            <a:endParaRPr sz="22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440"/>
              </a:spcBef>
              <a:buChar char="–"/>
              <a:tabLst>
                <a:tab pos="297815" algn="l"/>
              </a:tabLst>
            </a:pPr>
            <a:r>
              <a:rPr sz="2200" b="1" dirty="0">
                <a:latin typeface="Times New Roman"/>
                <a:cs typeface="Times New Roman"/>
              </a:rPr>
              <a:t>Quality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metrics</a:t>
            </a:r>
            <a:endParaRPr sz="2200">
              <a:latin typeface="Times New Roman"/>
              <a:cs typeface="Times New Roman"/>
            </a:endParaRPr>
          </a:p>
          <a:p>
            <a:pPr marL="697230" lvl="1" indent="-186055">
              <a:lnSpc>
                <a:spcPct val="100000"/>
              </a:lnSpc>
              <a:spcBef>
                <a:spcPts val="440"/>
              </a:spcBef>
              <a:buChar char="•"/>
              <a:tabLst>
                <a:tab pos="697230" algn="l"/>
              </a:tabLst>
            </a:pPr>
            <a:r>
              <a:rPr sz="2200" b="1" dirty="0">
                <a:latin typeface="Times New Roman"/>
                <a:cs typeface="Times New Roman"/>
              </a:rPr>
              <a:t>Customer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Satisfaction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(CSAT):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Feedback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end-</a:t>
            </a:r>
            <a:r>
              <a:rPr sz="2200" spc="-10" dirty="0">
                <a:latin typeface="Times New Roman"/>
                <a:cs typeface="Times New Roman"/>
              </a:rPr>
              <a:t>users.</a:t>
            </a:r>
            <a:endParaRPr sz="2200">
              <a:latin typeface="Times New Roman"/>
              <a:cs typeface="Times New Roman"/>
            </a:endParaRPr>
          </a:p>
          <a:p>
            <a:pPr marL="696595" marR="102235" lvl="1" indent="-186055">
              <a:lnSpc>
                <a:spcPct val="100000"/>
              </a:lnSpc>
              <a:spcBef>
                <a:spcPts val="440"/>
              </a:spcBef>
              <a:buChar char="•"/>
              <a:tabLst>
                <a:tab pos="697865" algn="l"/>
                <a:tab pos="1405255" algn="l"/>
                <a:tab pos="2840355" algn="l"/>
                <a:tab pos="3794760" algn="l"/>
                <a:tab pos="4893310" algn="l"/>
                <a:tab pos="6407785" algn="l"/>
                <a:tab pos="6929120" algn="l"/>
              </a:tabLst>
            </a:pPr>
            <a:r>
              <a:rPr sz="2200" b="1" spc="-25" dirty="0">
                <a:latin typeface="Times New Roman"/>
                <a:cs typeface="Times New Roman"/>
              </a:rPr>
              <a:t>Net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Promoter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Score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(NPS):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Likelihood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users 	</a:t>
            </a:r>
            <a:r>
              <a:rPr sz="2200" dirty="0">
                <a:latin typeface="Times New Roman"/>
                <a:cs typeface="Times New Roman"/>
              </a:rPr>
              <a:t>recommending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product.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449" y="3873119"/>
            <a:ext cx="2931795" cy="108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230" indent="-186055">
              <a:lnSpc>
                <a:spcPct val="100000"/>
              </a:lnSpc>
              <a:spcBef>
                <a:spcPts val="100"/>
              </a:spcBef>
              <a:buChar char="•"/>
              <a:tabLst>
                <a:tab pos="697230" algn="l"/>
                <a:tab pos="164592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Defect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Resolution</a:t>
            </a:r>
            <a:endParaRPr sz="22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defects.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  <a:tabLst>
                <a:tab pos="297815" algn="l"/>
              </a:tabLst>
            </a:pPr>
            <a:r>
              <a:rPr sz="2200" b="1" spc="-50" dirty="0">
                <a:latin typeface="Times New Roman"/>
                <a:cs typeface="Times New Roman"/>
              </a:rPr>
              <a:t>–</a:t>
            </a:r>
            <a:r>
              <a:rPr sz="2200" b="1" dirty="0">
                <a:latin typeface="Times New Roman"/>
                <a:cs typeface="Times New Roman"/>
              </a:rPr>
              <a:t>	Team </a:t>
            </a:r>
            <a:r>
              <a:rPr sz="2200" b="1" spc="-10" dirty="0">
                <a:latin typeface="Times New Roman"/>
                <a:cs typeface="Times New Roman"/>
              </a:rPr>
              <a:t>metrics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1739" y="3873119"/>
            <a:ext cx="44723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4400" algn="l"/>
                <a:tab pos="1691005" algn="l"/>
                <a:tab pos="2484120" algn="l"/>
                <a:tab pos="2889250" algn="l"/>
                <a:tab pos="338772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Time: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Time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taken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fix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identified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6525" y="4990719"/>
            <a:ext cx="7125334" cy="108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26034" indent="-186055">
              <a:lnSpc>
                <a:spcPct val="100000"/>
              </a:lnSpc>
              <a:spcBef>
                <a:spcPts val="100"/>
              </a:spcBef>
              <a:buChar char="•"/>
              <a:tabLst>
                <a:tab pos="199390" algn="l"/>
              </a:tabLst>
            </a:pPr>
            <a:r>
              <a:rPr sz="2200" b="1" dirty="0">
                <a:latin typeface="Times New Roman"/>
                <a:cs typeface="Times New Roman"/>
              </a:rPr>
              <a:t>Team</a:t>
            </a:r>
            <a:r>
              <a:rPr sz="2200" b="1" spc="3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Morale:</a:t>
            </a:r>
            <a:r>
              <a:rPr sz="2200" b="1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Surveys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feedback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loops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gauge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team 	</a:t>
            </a:r>
            <a:r>
              <a:rPr sz="2200" spc="-10" dirty="0">
                <a:latin typeface="Times New Roman"/>
                <a:cs typeface="Times New Roman"/>
              </a:rPr>
              <a:t>satisfaction.</a:t>
            </a:r>
            <a:endParaRPr sz="2200">
              <a:latin typeface="Times New Roman"/>
              <a:cs typeface="Times New Roman"/>
            </a:endParaRPr>
          </a:p>
          <a:p>
            <a:pPr marL="198755" indent="-186055">
              <a:lnSpc>
                <a:spcPct val="100000"/>
              </a:lnSpc>
              <a:spcBef>
                <a:spcPts val="439"/>
              </a:spcBef>
              <a:buChar char="•"/>
              <a:tabLst>
                <a:tab pos="19875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Collaboration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Metrics: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Frequency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effectiveness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team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3225" y="6052438"/>
            <a:ext cx="18338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Times New Roman"/>
                <a:cs typeface="Times New Roman"/>
              </a:rPr>
              <a:t>communication.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7333" y="6263513"/>
            <a:ext cx="186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•6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3975">
              <a:lnSpc>
                <a:spcPct val="100000"/>
              </a:lnSpc>
              <a:spcBef>
                <a:spcPts val="100"/>
              </a:spcBef>
            </a:pPr>
            <a:r>
              <a:rPr dirty="0"/>
              <a:t>Cost,</a:t>
            </a:r>
            <a:r>
              <a:rPr spc="-60" dirty="0"/>
              <a:t> </a:t>
            </a:r>
            <a:r>
              <a:rPr dirty="0"/>
              <a:t>Size</a:t>
            </a:r>
            <a:r>
              <a:rPr spc="-6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Time</a:t>
            </a:r>
            <a:r>
              <a:rPr spc="-6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915" y="919988"/>
            <a:ext cx="8031480" cy="520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43180" indent="-29781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</a:tabLst>
            </a:pPr>
            <a:r>
              <a:rPr sz="2400" b="1" dirty="0">
                <a:latin typeface="Times New Roman"/>
                <a:cs typeface="Times New Roman"/>
              </a:rPr>
              <a:t>Cost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metrics</a:t>
            </a:r>
            <a:r>
              <a:rPr sz="2400" b="1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monetary</a:t>
            </a:r>
            <a:r>
              <a:rPr sz="2400" b="1" spc="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resources</a:t>
            </a:r>
            <a:r>
              <a:rPr sz="2400" b="1" spc="4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consumed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development.</a:t>
            </a:r>
            <a:endParaRPr sz="2400">
              <a:latin typeface="Times New Roman"/>
              <a:cs typeface="Times New Roman"/>
            </a:endParaRPr>
          </a:p>
          <a:p>
            <a:pPr marL="709930" marR="5080" lvl="1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09930" algn="l"/>
              </a:tabLst>
            </a:pPr>
            <a:r>
              <a:rPr sz="2400" b="1" dirty="0">
                <a:latin typeface="Times New Roman"/>
                <a:cs typeface="Times New Roman"/>
              </a:rPr>
              <a:t>Examples: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(Cost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 </a:t>
            </a:r>
            <a:r>
              <a:rPr sz="2400" dirty="0">
                <a:latin typeface="Times New Roman"/>
                <a:cs typeface="Times New Roman"/>
              </a:rPr>
              <a:t>Index),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Variance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(BV),  Cost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Point </a:t>
            </a:r>
            <a:r>
              <a:rPr sz="2400" dirty="0">
                <a:latin typeface="Times New Roman"/>
                <a:cs typeface="Times New Roman"/>
              </a:rPr>
              <a:t>(CFP),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Maintenance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cost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marL="309880" marR="18415" indent="-297815" algn="just">
              <a:lnSpc>
                <a:spcPct val="100000"/>
              </a:lnSpc>
              <a:buChar char="•"/>
              <a:tabLst>
                <a:tab pos="309880" algn="l"/>
              </a:tabLst>
            </a:pPr>
            <a:r>
              <a:rPr sz="2400" b="1" dirty="0">
                <a:latin typeface="Times New Roman"/>
                <a:cs typeface="Times New Roman"/>
              </a:rPr>
              <a:t>Size</a:t>
            </a:r>
            <a:r>
              <a:rPr sz="2400" b="1" spc="2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metrics</a:t>
            </a:r>
            <a:r>
              <a:rPr sz="2400" b="1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amount</a:t>
            </a:r>
            <a:r>
              <a:rPr sz="2400" b="1" spc="2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2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functionality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-10" dirty="0">
                <a:latin typeface="Times New Roman"/>
                <a:cs typeface="Times New Roman"/>
              </a:rPr>
              <a:t> code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b="1" dirty="0">
                <a:latin typeface="Times New Roman"/>
                <a:cs typeface="Times New Roman"/>
              </a:rPr>
              <a:t>Examples: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KLOC,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(FP)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marL="309880" marR="129539" indent="-297815" algn="just">
              <a:lnSpc>
                <a:spcPct val="100000"/>
              </a:lnSpc>
              <a:buChar char="•"/>
              <a:tabLst>
                <a:tab pos="309880" algn="l"/>
              </a:tabLst>
            </a:pP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25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metrics</a:t>
            </a:r>
            <a:r>
              <a:rPr sz="2400" b="1" spc="254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measure</a:t>
            </a:r>
            <a:r>
              <a:rPr sz="2400" spc="26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schedule</a:t>
            </a:r>
            <a:r>
              <a:rPr sz="2400" b="1" spc="250" dirty="0">
                <a:latin typeface="Times New Roman"/>
                <a:cs typeface="Times New Roman"/>
              </a:rPr>
              <a:t>  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254" dirty="0">
                <a:latin typeface="Times New Roman"/>
                <a:cs typeface="Times New Roman"/>
              </a:rPr>
              <a:t>   </a:t>
            </a:r>
            <a:r>
              <a:rPr sz="2400" b="1" spc="-25" dirty="0">
                <a:latin typeface="Times New Roman"/>
                <a:cs typeface="Times New Roman"/>
              </a:rPr>
              <a:t>and </a:t>
            </a:r>
            <a:r>
              <a:rPr sz="2400" b="1" dirty="0">
                <a:latin typeface="Times New Roman"/>
                <a:cs typeface="Times New Roman"/>
              </a:rPr>
              <a:t>productivity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over</a:t>
            </a:r>
            <a:r>
              <a:rPr sz="2400" b="1" spc="-10" dirty="0">
                <a:latin typeface="Times New Roman"/>
                <a:cs typeface="Times New Roman"/>
              </a:rPr>
              <a:t> time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  <a:tab pos="2222500" algn="l"/>
                <a:tab pos="2804160" algn="l"/>
                <a:tab pos="4161790" algn="l"/>
                <a:tab pos="5856605" algn="l"/>
                <a:tab pos="686943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Examples: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SPI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(Schedule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Performance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Index),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3175" y="6101586"/>
            <a:ext cx="592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Variance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(SV),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Cycle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Velocity.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7333" y="6263513"/>
            <a:ext cx="186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•7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0273" y="209010"/>
            <a:ext cx="661098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Methods</a:t>
            </a:r>
            <a:r>
              <a:rPr spc="-90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Software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Metrics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1285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>
                <a:latin typeface="Times New Roman"/>
                <a:cs typeface="Times New Roman"/>
              </a:rPr>
              <a:t>8</a:t>
            </a:fld>
            <a:endParaRPr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1464" y="997140"/>
            <a:ext cx="8444230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448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approaches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analyze,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use </a:t>
            </a:r>
            <a:r>
              <a:rPr sz="2400" spc="-10" dirty="0">
                <a:latin typeface="Times New Roman"/>
                <a:cs typeface="Times New Roman"/>
              </a:rPr>
              <a:t>metrics.</a:t>
            </a:r>
            <a:endParaRPr sz="2400">
              <a:latin typeface="Times New Roman"/>
              <a:cs typeface="Times New Roman"/>
            </a:endParaRPr>
          </a:p>
          <a:p>
            <a:pPr marL="384810" indent="-372110">
              <a:lnSpc>
                <a:spcPct val="100000"/>
              </a:lnSpc>
              <a:buAutoNum type="alphaUcPeriod"/>
              <a:tabLst>
                <a:tab pos="38481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Goal-Question-</a:t>
            </a:r>
            <a:r>
              <a:rPr sz="2400" b="1" dirty="0">
                <a:latin typeface="Times New Roman"/>
                <a:cs typeface="Times New Roman"/>
              </a:rPr>
              <a:t>Metric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(GQM)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Approach</a:t>
            </a:r>
            <a:endParaRPr sz="2400">
              <a:latin typeface="Times New Roman"/>
              <a:cs typeface="Times New Roman"/>
            </a:endParaRPr>
          </a:p>
          <a:p>
            <a:pPr marL="469900" marR="17145" lvl="1" indent="-120014">
              <a:lnSpc>
                <a:spcPct val="100000"/>
              </a:lnSpc>
              <a:buSzPct val="95833"/>
              <a:buChar char="•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Goal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objectives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quality).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Reduce defects.</a:t>
            </a:r>
            <a:endParaRPr sz="2400">
              <a:latin typeface="Times New Roman"/>
              <a:cs typeface="Times New Roman"/>
            </a:endParaRPr>
          </a:p>
          <a:p>
            <a:pPr marL="469900" marR="5080" lvl="1" indent="-120014">
              <a:lnSpc>
                <a:spcPct val="100000"/>
              </a:lnSpc>
              <a:buSzPct val="95833"/>
              <a:buChar char="•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Question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questions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many </a:t>
            </a:r>
            <a:r>
              <a:rPr sz="2400" dirty="0">
                <a:latin typeface="Times New Roman"/>
                <a:cs typeface="Times New Roman"/>
              </a:rPr>
              <a:t>defects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release?).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density?</a:t>
            </a:r>
            <a:endParaRPr sz="2400">
              <a:latin typeface="Times New Roman"/>
              <a:cs typeface="Times New Roman"/>
            </a:endParaRPr>
          </a:p>
          <a:p>
            <a:pPr marL="469900" marR="929640" lvl="1" indent="-120014">
              <a:lnSpc>
                <a:spcPct val="100000"/>
              </a:lnSpc>
              <a:buSzPct val="95833"/>
              <a:buChar char="•"/>
              <a:tabLst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Metric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measurable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per </a:t>
            </a:r>
            <a:r>
              <a:rPr sz="2400" dirty="0">
                <a:latin typeface="Times New Roman"/>
                <a:cs typeface="Times New Roman"/>
              </a:rPr>
              <a:t>KLOC,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DRE).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buAutoNum type="alphaUcPeriod"/>
              <a:tabLst>
                <a:tab pos="368300" algn="l"/>
              </a:tabLst>
            </a:pPr>
            <a:r>
              <a:rPr sz="2400" b="1" dirty="0">
                <a:latin typeface="Times New Roman"/>
                <a:cs typeface="Times New Roman"/>
              </a:rPr>
              <a:t>Statistical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(SPC)</a:t>
            </a:r>
            <a:endParaRPr sz="2400">
              <a:latin typeface="Times New Roman"/>
              <a:cs typeface="Times New Roman"/>
            </a:endParaRPr>
          </a:p>
          <a:p>
            <a:pPr marL="469265" lvl="1" indent="-119380">
              <a:lnSpc>
                <a:spcPct val="100000"/>
              </a:lnSpc>
              <a:buSzPct val="95833"/>
              <a:buChar char="•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charts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stability.</a:t>
            </a:r>
            <a:endParaRPr sz="2400">
              <a:latin typeface="Times New Roman"/>
              <a:cs typeface="Times New Roman"/>
            </a:endParaRPr>
          </a:p>
          <a:p>
            <a:pPr marL="469265" lvl="1" indent="-119380">
              <a:lnSpc>
                <a:spcPct val="100000"/>
              </a:lnSpc>
              <a:buSzPct val="95833"/>
              <a:buChar char="•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Identifies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trends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productivity,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4507" y="123285"/>
            <a:ext cx="12001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1285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>
                <a:latin typeface="Times New Roman"/>
                <a:cs typeface="Times New Roman"/>
              </a:rPr>
              <a:t>9</a:t>
            </a:fld>
            <a:endParaRPr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225" y="899033"/>
            <a:ext cx="7820659" cy="546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C.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Benchmarking</a:t>
            </a:r>
            <a:endParaRPr sz="23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–Compare</a:t>
            </a:r>
            <a:r>
              <a:rPr sz="2300" spc="-1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project</a:t>
            </a:r>
            <a:r>
              <a:rPr sz="2300" spc="-1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metrics</a:t>
            </a:r>
            <a:r>
              <a:rPr sz="2300" spc="-1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with:</a:t>
            </a:r>
            <a:endParaRPr sz="2300">
              <a:latin typeface="Times New Roman"/>
              <a:cs typeface="Times New Roman"/>
            </a:endParaRPr>
          </a:p>
          <a:p>
            <a:pPr marL="1326515" indent="-412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326515" algn="l"/>
              </a:tabLst>
            </a:pPr>
            <a:r>
              <a:rPr sz="2300" dirty="0">
                <a:latin typeface="Times New Roman"/>
                <a:cs typeface="Times New Roman"/>
              </a:rPr>
              <a:t>Historical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previous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projects.</a:t>
            </a:r>
            <a:endParaRPr sz="2300">
              <a:latin typeface="Times New Roman"/>
              <a:cs typeface="Times New Roman"/>
            </a:endParaRPr>
          </a:p>
          <a:p>
            <a:pPr marL="1326515" indent="-412750">
              <a:lnSpc>
                <a:spcPct val="100000"/>
              </a:lnSpc>
              <a:buFont typeface="Arial MT"/>
              <a:buChar char="•"/>
              <a:tabLst>
                <a:tab pos="1326515" algn="l"/>
              </a:tabLst>
            </a:pPr>
            <a:r>
              <a:rPr sz="2300" dirty="0">
                <a:latin typeface="Times New Roman"/>
                <a:cs typeface="Times New Roman"/>
              </a:rPr>
              <a:t>Industry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averages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(e.g.,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ISBSG,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Capers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Jones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datasets).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300" b="1" dirty="0">
                <a:latin typeface="Times New Roman"/>
                <a:cs typeface="Times New Roman"/>
              </a:rPr>
              <a:t>D.</a:t>
            </a:r>
            <a:r>
              <a:rPr sz="2300" b="1" spc="-6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Earned</a:t>
            </a:r>
            <a:r>
              <a:rPr sz="2300" b="1" spc="-7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Value</a:t>
            </a:r>
            <a:r>
              <a:rPr sz="2300" b="1" spc="-7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Analysis</a:t>
            </a:r>
            <a:r>
              <a:rPr sz="2300" b="1" spc="-7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(EVA)</a:t>
            </a:r>
            <a:endParaRPr sz="230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spcBef>
                <a:spcPts val="459"/>
              </a:spcBef>
              <a:buChar char="–"/>
              <a:tabLst>
                <a:tab pos="755015" algn="l"/>
              </a:tabLst>
            </a:pPr>
            <a:r>
              <a:rPr sz="2300" dirty="0">
                <a:latin typeface="Times New Roman"/>
                <a:cs typeface="Times New Roman"/>
              </a:rPr>
              <a:t>Integrates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cost,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schedule,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scope.</a:t>
            </a:r>
            <a:endParaRPr sz="2300">
              <a:latin typeface="Times New Roman"/>
              <a:cs typeface="Times New Roman"/>
            </a:endParaRPr>
          </a:p>
          <a:p>
            <a:pPr marL="755650" marR="546100" indent="-285750">
              <a:lnSpc>
                <a:spcPct val="100000"/>
              </a:lnSpc>
              <a:spcBef>
                <a:spcPts val="459"/>
              </a:spcBef>
              <a:buChar char="–"/>
              <a:tabLst>
                <a:tab pos="755650" algn="l"/>
              </a:tabLst>
            </a:pPr>
            <a:r>
              <a:rPr sz="2300" dirty="0">
                <a:latin typeface="Times New Roman"/>
                <a:cs typeface="Times New Roman"/>
              </a:rPr>
              <a:t>Uses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SPI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(Schedule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Performance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Index)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CPI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(Cost Performance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Index)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track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progress.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300" b="1" dirty="0">
                <a:latin typeface="Times New Roman"/>
                <a:cs typeface="Times New Roman"/>
              </a:rPr>
              <a:t>E.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Function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Point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Analysis</a:t>
            </a:r>
            <a:r>
              <a:rPr sz="2300" b="1" spc="-45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(FPA)</a:t>
            </a:r>
            <a:endParaRPr sz="230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spcBef>
                <a:spcPts val="459"/>
              </a:spcBef>
              <a:buChar char="–"/>
              <a:tabLst>
                <a:tab pos="755015" algn="l"/>
              </a:tabLst>
            </a:pPr>
            <a:r>
              <a:rPr sz="2300" dirty="0">
                <a:latin typeface="Times New Roman"/>
                <a:cs typeface="Times New Roman"/>
              </a:rPr>
              <a:t>Measures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software</a:t>
            </a:r>
            <a:r>
              <a:rPr sz="2300" b="1" spc="-7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size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based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functionalities,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not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code.</a:t>
            </a:r>
            <a:endParaRPr sz="230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spcBef>
                <a:spcPts val="459"/>
              </a:spcBef>
              <a:buChar char="–"/>
              <a:tabLst>
                <a:tab pos="755015" algn="l"/>
              </a:tabLst>
            </a:pPr>
            <a:r>
              <a:rPr sz="2300" dirty="0">
                <a:latin typeface="Times New Roman"/>
                <a:cs typeface="Times New Roman"/>
              </a:rPr>
              <a:t>Used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normalize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productivity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cost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metrics.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300" b="1" dirty="0">
                <a:latin typeface="Times New Roman"/>
                <a:cs typeface="Times New Roman"/>
              </a:rPr>
              <a:t>F.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Trend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&amp;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Variance</a:t>
            </a:r>
            <a:r>
              <a:rPr sz="2300" b="1" spc="-60" dirty="0">
                <a:latin typeface="Times New Roman"/>
                <a:cs typeface="Times New Roman"/>
              </a:rPr>
              <a:t> </a:t>
            </a:r>
            <a:r>
              <a:rPr sz="2300" b="1" spc="-10" dirty="0">
                <a:latin typeface="Times New Roman"/>
                <a:cs typeface="Times New Roman"/>
              </a:rPr>
              <a:t>Analysis</a:t>
            </a:r>
            <a:endParaRPr sz="230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spcBef>
                <a:spcPts val="459"/>
              </a:spcBef>
              <a:buChar char="–"/>
              <a:tabLst>
                <a:tab pos="755015" algn="l"/>
              </a:tabLst>
            </a:pPr>
            <a:r>
              <a:rPr sz="2300" dirty="0">
                <a:latin typeface="Times New Roman"/>
                <a:cs typeface="Times New Roman"/>
              </a:rPr>
              <a:t>Compares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planned</a:t>
            </a:r>
            <a:r>
              <a:rPr sz="2300" b="1" spc="-55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vs.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actual</a:t>
            </a:r>
            <a:r>
              <a:rPr sz="2300" b="1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over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time.</a:t>
            </a:r>
            <a:endParaRPr sz="230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spcBef>
                <a:spcPts val="459"/>
              </a:spcBef>
              <a:buChar char="–"/>
              <a:tabLst>
                <a:tab pos="755015" algn="l"/>
              </a:tabLst>
            </a:pPr>
            <a:r>
              <a:rPr sz="2300" dirty="0">
                <a:latin typeface="Times New Roman"/>
                <a:cs typeface="Times New Roman"/>
              </a:rPr>
              <a:t>Detects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deviations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early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corrective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action.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403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spc="-8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Metrics</a:t>
            </a:r>
            <a:r>
              <a:rPr spc="-75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25" dirty="0"/>
              <a:t>SPM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7896" y="920298"/>
            <a:ext cx="1602740" cy="78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Times New Roman"/>
                <a:cs typeface="Times New Roman"/>
              </a:rPr>
              <a:t>Tool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800" b="1" dirty="0">
                <a:latin typeface="Times New Roman"/>
                <a:cs typeface="Times New Roman"/>
              </a:rPr>
              <a:t>Jira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Trello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8146" y="920298"/>
            <a:ext cx="2549525" cy="200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2644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Category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800" dirty="0">
                <a:latin typeface="Times New Roman"/>
                <a:cs typeface="Times New Roman"/>
              </a:rPr>
              <a:t>Agile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Management</a:t>
            </a:r>
            <a:endParaRPr sz="1800">
              <a:latin typeface="Times New Roman"/>
              <a:cs typeface="Times New Roman"/>
            </a:endParaRPr>
          </a:p>
          <a:p>
            <a:pPr marL="12700" marR="561975">
              <a:lnSpc>
                <a:spcPct val="114999"/>
              </a:lnSpc>
              <a:spcBef>
                <a:spcPts val="1065"/>
              </a:spcBef>
            </a:pP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Scheduling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spc="-10" dirty="0">
                <a:latin typeface="Times New Roman"/>
                <a:cs typeface="Times New Roman"/>
              </a:rPr>
              <a:t>Tracking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800" dirty="0">
                <a:latin typeface="Times New Roman"/>
                <a:cs typeface="Times New Roman"/>
              </a:rPr>
              <a:t>Code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Measurement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8396" y="898023"/>
            <a:ext cx="2644775" cy="308229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898525">
              <a:lnSpc>
                <a:spcPct val="100000"/>
              </a:lnSpc>
              <a:spcBef>
                <a:spcPts val="275"/>
              </a:spcBef>
            </a:pPr>
            <a:r>
              <a:rPr sz="2000" b="1" spc="-10" dirty="0">
                <a:latin typeface="Times New Roman"/>
                <a:cs typeface="Times New Roman"/>
              </a:rPr>
              <a:t>Purpose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5"/>
              </a:spcBef>
            </a:pPr>
            <a:r>
              <a:rPr sz="1800" dirty="0">
                <a:latin typeface="Times New Roman"/>
                <a:cs typeface="Times New Roman"/>
              </a:rPr>
              <a:t>Track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velocity,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time,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000"/>
              </a:lnSpc>
              <a:spcBef>
                <a:spcPts val="90"/>
              </a:spcBef>
            </a:pPr>
            <a:r>
              <a:rPr sz="1800" dirty="0">
                <a:latin typeface="Times New Roman"/>
                <a:cs typeface="Times New Roman"/>
              </a:rPr>
              <a:t>cycle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burndown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charts </a:t>
            </a:r>
            <a:r>
              <a:rPr sz="1800" dirty="0">
                <a:latin typeface="Times New Roman"/>
                <a:cs typeface="Times New Roman"/>
              </a:rPr>
              <a:t>Gantt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charts,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EVM,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resource tracking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0"/>
              </a:spcBef>
            </a:pPr>
            <a:r>
              <a:rPr sz="1800" dirty="0">
                <a:latin typeface="Times New Roman"/>
                <a:cs typeface="Times New Roman"/>
              </a:rPr>
              <a:t>LOC,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smells,</a:t>
            </a:r>
            <a:endParaRPr sz="1800">
              <a:latin typeface="Times New Roman"/>
              <a:cs typeface="Times New Roman"/>
            </a:endParaRPr>
          </a:p>
          <a:p>
            <a:pPr marL="12700" marR="466090">
              <a:lnSpc>
                <a:spcPct val="111000"/>
              </a:lnSpc>
              <a:spcBef>
                <a:spcPts val="85"/>
              </a:spcBef>
            </a:pPr>
            <a:r>
              <a:rPr sz="1800" dirty="0">
                <a:latin typeface="Times New Roman"/>
                <a:cs typeface="Times New Roman"/>
              </a:rPr>
              <a:t>complexity,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coverage </a:t>
            </a:r>
            <a:r>
              <a:rPr sz="1800" dirty="0">
                <a:latin typeface="Times New Roman"/>
                <a:cs typeface="Times New Roman"/>
              </a:rPr>
              <a:t>Commits,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changes,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pull </a:t>
            </a:r>
            <a:r>
              <a:rPr sz="1800" dirty="0">
                <a:latin typeface="Times New Roman"/>
                <a:cs typeface="Times New Roman"/>
              </a:rPr>
              <a:t>request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activity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800" dirty="0">
                <a:latin typeface="Times New Roman"/>
                <a:cs typeface="Times New Roman"/>
              </a:rPr>
              <a:t>Trend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SPC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896" y="2011704"/>
            <a:ext cx="1136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MS</a:t>
            </a:r>
            <a:r>
              <a:rPr sz="1800" b="1" spc="-10" dirty="0">
                <a:latin typeface="Times New Roman"/>
                <a:cs typeface="Times New Roman"/>
              </a:rPr>
              <a:t> Project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896" y="2620529"/>
            <a:ext cx="2159000" cy="377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SonarQube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  <a:spcBef>
                <a:spcPts val="1065"/>
              </a:spcBef>
            </a:pPr>
            <a:r>
              <a:rPr sz="1800" b="1" dirty="0">
                <a:latin typeface="Times New Roman"/>
                <a:cs typeface="Times New Roman"/>
              </a:rPr>
              <a:t>Git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GitHub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GitLab Analytics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800" b="1" dirty="0">
                <a:latin typeface="Times New Roman"/>
                <a:cs typeface="Times New Roman"/>
              </a:rPr>
              <a:t>SPSS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Python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800" b="1" dirty="0">
                <a:latin typeface="Times New Roman"/>
                <a:cs typeface="Times New Roman"/>
              </a:rPr>
              <a:t>QSM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SLIM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Suite</a:t>
            </a:r>
            <a:endParaRPr sz="1800">
              <a:latin typeface="Times New Roman"/>
              <a:cs typeface="Times New Roman"/>
            </a:endParaRPr>
          </a:p>
          <a:p>
            <a:pPr marL="12700" marR="240665">
              <a:lnSpc>
                <a:spcPct val="111000"/>
              </a:lnSpc>
              <a:spcBef>
                <a:spcPts val="1150"/>
              </a:spcBef>
            </a:pPr>
            <a:r>
              <a:rPr sz="1800" b="1" dirty="0">
                <a:latin typeface="Times New Roman"/>
                <a:cs typeface="Times New Roman"/>
              </a:rPr>
              <a:t>Function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Point Workbench </a:t>
            </a:r>
            <a:r>
              <a:rPr sz="1800" b="1" dirty="0">
                <a:latin typeface="Times New Roman"/>
                <a:cs typeface="Times New Roman"/>
              </a:rPr>
              <a:t>Tableau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Power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BI</a:t>
            </a:r>
            <a:endParaRPr sz="1800">
              <a:latin typeface="Times New Roman"/>
              <a:cs typeface="Times New Roman"/>
            </a:endParaRPr>
          </a:p>
          <a:p>
            <a:pPr marL="12700" marR="577215">
              <a:lnSpc>
                <a:spcPct val="1644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TestRail </a:t>
            </a:r>
            <a:r>
              <a:rPr sz="1800" b="1" dirty="0">
                <a:latin typeface="Times New Roman"/>
                <a:cs typeface="Times New Roman"/>
              </a:rPr>
              <a:t>Clockify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/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Toggl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8146" y="3229354"/>
            <a:ext cx="2258695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Version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Control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Metrics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800" spc="-10" dirty="0">
                <a:latin typeface="Times New Roman"/>
                <a:cs typeface="Times New Roman"/>
              </a:rPr>
              <a:t>Statistical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746" y="4131529"/>
            <a:ext cx="4710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Estimation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Benchmarking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2700" baseline="38580" dirty="0">
                <a:latin typeface="Times New Roman"/>
                <a:cs typeface="Times New Roman"/>
              </a:rPr>
              <a:t>Cost,</a:t>
            </a:r>
            <a:r>
              <a:rPr sz="2700" spc="-37" baseline="38580" dirty="0">
                <a:latin typeface="Times New Roman"/>
                <a:cs typeface="Times New Roman"/>
              </a:rPr>
              <a:t> </a:t>
            </a:r>
            <a:r>
              <a:rPr sz="2700" baseline="38580" dirty="0">
                <a:latin typeface="Times New Roman"/>
                <a:cs typeface="Times New Roman"/>
              </a:rPr>
              <a:t>effort,</a:t>
            </a:r>
            <a:r>
              <a:rPr sz="2700" spc="-30" baseline="38580" dirty="0">
                <a:latin typeface="Times New Roman"/>
                <a:cs typeface="Times New Roman"/>
              </a:rPr>
              <a:t> </a:t>
            </a:r>
            <a:r>
              <a:rPr sz="2700" spc="-15" baseline="38580" dirty="0">
                <a:latin typeface="Times New Roman"/>
                <a:cs typeface="Times New Roman"/>
              </a:rPr>
              <a:t>schedule</a:t>
            </a:r>
            <a:endParaRPr sz="2700" baseline="3858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8396" y="4289263"/>
            <a:ext cx="2532380" cy="210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forecasting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800" dirty="0">
                <a:latin typeface="Times New Roman"/>
                <a:cs typeface="Times New Roman"/>
              </a:rPr>
              <a:t>Size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metrics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calculation</a:t>
            </a:r>
            <a:endParaRPr sz="1800">
              <a:latin typeface="Times New Roman"/>
              <a:cs typeface="Times New Roman"/>
            </a:endParaRPr>
          </a:p>
          <a:p>
            <a:pPr marL="12700" marR="379095">
              <a:lnSpc>
                <a:spcPct val="111000"/>
              </a:lnSpc>
              <a:spcBef>
                <a:spcPts val="1155"/>
              </a:spcBef>
            </a:pPr>
            <a:r>
              <a:rPr sz="1800" spc="-10" dirty="0">
                <a:latin typeface="Times New Roman"/>
                <a:cs typeface="Times New Roman"/>
              </a:rPr>
              <a:t>Dashboards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metrics </a:t>
            </a:r>
            <a:r>
              <a:rPr sz="1800" dirty="0">
                <a:latin typeface="Times New Roman"/>
                <a:cs typeface="Times New Roman"/>
              </a:rPr>
              <a:t>Test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coverage,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defect tracking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800" dirty="0">
                <a:latin typeface="Times New Roman"/>
                <a:cs typeface="Times New Roman"/>
              </a:rPr>
              <a:t>Effort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metrics,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productivity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8146" y="4740354"/>
            <a:ext cx="2285365" cy="1653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Function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Point</a:t>
            </a:r>
            <a:r>
              <a:rPr sz="1800" spc="-10" dirty="0">
                <a:latin typeface="Times New Roman"/>
                <a:cs typeface="Times New Roman"/>
              </a:rPr>
              <a:t> Counting</a:t>
            </a:r>
            <a:endParaRPr sz="1800">
              <a:latin typeface="Times New Roman"/>
              <a:cs typeface="Times New Roman"/>
            </a:endParaRPr>
          </a:p>
          <a:p>
            <a:pPr marL="12700" marR="558165">
              <a:lnSpc>
                <a:spcPct val="164400"/>
              </a:lnSpc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Visualization </a:t>
            </a:r>
            <a:r>
              <a:rPr sz="1800" dirty="0">
                <a:latin typeface="Times New Roman"/>
                <a:cs typeface="Times New Roman"/>
              </a:rPr>
              <a:t>Testing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Metrics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Tracking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5165" y="209010"/>
            <a:ext cx="63760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Issues</a:t>
            </a:r>
            <a:r>
              <a:rPr spc="-6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metrics</a:t>
            </a:r>
            <a:r>
              <a:rPr spc="-6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10" dirty="0"/>
              <a:t>projects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41350" y="937133"/>
            <a:ext cx="7889875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indent="-3130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25755" algn="l"/>
              </a:tabLst>
            </a:pPr>
            <a:r>
              <a:rPr sz="2400" b="1" dirty="0">
                <a:latin typeface="Times New Roman"/>
                <a:cs typeface="Times New Roman"/>
              </a:rPr>
              <a:t>Lack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Standardization</a:t>
            </a:r>
            <a:endParaRPr sz="2400">
              <a:latin typeface="Times New Roman"/>
              <a:cs typeface="Times New Roman"/>
            </a:endParaRPr>
          </a:p>
          <a:p>
            <a:pPr marL="812800" marR="289560" lvl="1" indent="-297815">
              <a:lnSpc>
                <a:spcPct val="100000"/>
              </a:lnSpc>
              <a:buFont typeface="Arial MT"/>
              <a:buChar char="•"/>
              <a:tabLst>
                <a:tab pos="812800" algn="l"/>
              </a:tabLst>
            </a:pP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different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definitions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the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(e.g.,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“defect”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bug,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request).</a:t>
            </a:r>
            <a:endParaRPr sz="2400">
              <a:latin typeface="Times New Roman"/>
              <a:cs typeface="Times New Roman"/>
            </a:endParaRPr>
          </a:p>
          <a:p>
            <a:pPr marL="812800" marR="843915" lvl="1" indent="-297815">
              <a:lnSpc>
                <a:spcPct val="100000"/>
              </a:lnSpc>
              <a:buFont typeface="Arial MT"/>
              <a:buChar char="•"/>
              <a:tabLst>
                <a:tab pos="812800" algn="l"/>
              </a:tabLst>
            </a:pPr>
            <a:r>
              <a:rPr sz="2400" dirty="0">
                <a:latin typeface="Times New Roman"/>
                <a:cs typeface="Times New Roman"/>
              </a:rPr>
              <a:t>Measurement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(manual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automated counting).</a:t>
            </a:r>
            <a:endParaRPr sz="2400">
              <a:latin typeface="Times New Roman"/>
              <a:cs typeface="Times New Roman"/>
            </a:endParaRPr>
          </a:p>
          <a:p>
            <a:pPr marL="812800" marR="5080" lvl="1" indent="-297815">
              <a:lnSpc>
                <a:spcPct val="100000"/>
              </a:lnSpc>
              <a:buFont typeface="Arial MT"/>
              <a:buChar char="•"/>
              <a:tabLst>
                <a:tab pos="812800" algn="l"/>
              </a:tabLst>
            </a:pPr>
            <a:r>
              <a:rPr sz="2400" dirty="0">
                <a:latin typeface="Times New Roman"/>
                <a:cs typeface="Times New Roman"/>
              </a:rPr>
              <a:t>Units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measurement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(LOC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25" dirty="0">
                <a:latin typeface="Times New Roman"/>
                <a:cs typeface="Times New Roman"/>
              </a:rPr>
              <a:t> not </a:t>
            </a:r>
            <a:r>
              <a:rPr sz="2400" spc="-10" dirty="0">
                <a:latin typeface="Times New Roman"/>
                <a:cs typeface="Times New Roman"/>
              </a:rPr>
              <a:t>match.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buAutoNum type="arabicPeriod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Collection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Problems</a:t>
            </a:r>
            <a:endParaRPr sz="2400">
              <a:latin typeface="Times New Roman"/>
              <a:cs typeface="Times New Roman"/>
            </a:endParaRPr>
          </a:p>
          <a:p>
            <a:pPr marL="812165" lvl="1" indent="-297180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400" dirty="0">
                <a:latin typeface="Times New Roman"/>
                <a:cs typeface="Times New Roman"/>
              </a:rPr>
              <a:t>Inconsistent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incomplete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teams.</a:t>
            </a:r>
            <a:endParaRPr sz="2400">
              <a:latin typeface="Times New Roman"/>
              <a:cs typeface="Times New Roman"/>
            </a:endParaRPr>
          </a:p>
          <a:p>
            <a:pPr marL="812165" lvl="1" indent="-297180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400" dirty="0">
                <a:latin typeface="Times New Roman"/>
                <a:cs typeface="Times New Roman"/>
              </a:rPr>
              <a:t>Missing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historical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comparison.</a:t>
            </a:r>
            <a:endParaRPr sz="2400">
              <a:latin typeface="Times New Roman"/>
              <a:cs typeface="Times New Roman"/>
            </a:endParaRPr>
          </a:p>
          <a:p>
            <a:pPr marL="812165" lvl="1" indent="-297180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400" dirty="0">
                <a:latin typeface="Times New Roman"/>
                <a:cs typeface="Times New Roman"/>
              </a:rPr>
              <a:t>Manual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human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errors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0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864743"/>
            <a:ext cx="7861300" cy="52679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580"/>
              </a:spcBef>
              <a:buAutoNum type="arabicPeriod" startAt="3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Comparability </a:t>
            </a:r>
            <a:r>
              <a:rPr sz="2400" b="1" spc="-10" dirty="0">
                <a:latin typeface="Times New Roman"/>
                <a:cs typeface="Times New Roman"/>
              </a:rPr>
              <a:t>Challenges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Projects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Technology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stack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(Java,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Python,</a:t>
            </a:r>
            <a:endParaRPr sz="2400">
              <a:latin typeface="Times New Roman"/>
              <a:cs typeface="Times New Roman"/>
            </a:endParaRPr>
          </a:p>
          <a:p>
            <a:pPr marL="755650" marR="3365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.NET),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Development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(Agile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Waterfall), </a:t>
            </a:r>
            <a:r>
              <a:rPr sz="2400" b="1" dirty="0">
                <a:latin typeface="Times New Roman"/>
                <a:cs typeface="Times New Roman"/>
              </a:rPr>
              <a:t>Complexity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domain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(banking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vs.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mobile apps).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Makes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benchmarking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across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projects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unreliable.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buAutoNum type="arabicPeriod" startAt="3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Context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Sensitivity</a:t>
            </a:r>
            <a:endParaRPr sz="2400">
              <a:latin typeface="Times New Roman"/>
              <a:cs typeface="Times New Roman"/>
            </a:endParaRPr>
          </a:p>
          <a:p>
            <a:pPr marL="755650" marR="466090" lvl="1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misleading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considering</a:t>
            </a:r>
            <a:r>
              <a:rPr sz="2400" spc="-10" dirty="0">
                <a:latin typeface="Times New Roman"/>
                <a:cs typeface="Times New Roman"/>
              </a:rPr>
              <a:t> project context.</a:t>
            </a:r>
            <a:endParaRPr sz="2400">
              <a:latin typeface="Times New Roman"/>
              <a:cs typeface="Times New Roman"/>
            </a:endParaRPr>
          </a:p>
          <a:p>
            <a:pPr marL="1155700" marR="41275" lvl="2" indent="-183515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Example: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inefficiency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one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necessary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complexity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another.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Times New Roman"/>
                <a:cs typeface="Times New Roman"/>
              </a:rPr>
              <a:t>Cultural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organizational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productivity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3175" y="6107301"/>
            <a:ext cx="998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metrics.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8505" y="6263513"/>
            <a:ext cx="285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 indent="-69850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4295" algn="l"/>
              </a:tabLst>
            </a:pP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0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925703"/>
            <a:ext cx="8079740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 algn="just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441325" algn="l"/>
              </a:tabLst>
            </a:pPr>
            <a:r>
              <a:rPr sz="2400" b="1" dirty="0">
                <a:latin typeface="Times New Roman"/>
                <a:cs typeface="Times New Roman"/>
              </a:rPr>
              <a:t>Misinterpretation</a:t>
            </a:r>
            <a:r>
              <a:rPr sz="2400" b="1" spc="1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17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Metrics:</a:t>
            </a:r>
            <a:r>
              <a:rPr sz="2400" b="1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Managers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numbers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instead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meaning.</a:t>
            </a:r>
            <a:endParaRPr sz="2400">
              <a:latin typeface="Times New Roman"/>
              <a:cs typeface="Times New Roman"/>
            </a:endParaRPr>
          </a:p>
          <a:p>
            <a:pPr marL="698500" marR="5080" lvl="1" indent="-29781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Example: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velocity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Agile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mean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work </a:t>
            </a:r>
            <a:r>
              <a:rPr sz="2400" dirty="0">
                <a:latin typeface="Times New Roman"/>
                <a:cs typeface="Times New Roman"/>
              </a:rPr>
              <a:t>completed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defect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injection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ignored.</a:t>
            </a:r>
            <a:endParaRPr sz="24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480"/>
              </a:spcBef>
            </a:pPr>
            <a:r>
              <a:rPr sz="2400" spc="-10" dirty="0">
                <a:latin typeface="Times New Roman"/>
                <a:cs typeface="Times New Roman"/>
              </a:rPr>
              <a:t>Over-</a:t>
            </a:r>
            <a:r>
              <a:rPr sz="2400" dirty="0">
                <a:latin typeface="Times New Roman"/>
                <a:cs typeface="Times New Roman"/>
              </a:rPr>
              <a:t>reliance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metric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wrong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decisions.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400">
              <a:latin typeface="Times New Roman"/>
              <a:cs typeface="Times New Roman"/>
            </a:endParaRPr>
          </a:p>
          <a:p>
            <a:pPr marL="317500" indent="-304800" algn="just">
              <a:lnSpc>
                <a:spcPct val="100000"/>
              </a:lnSpc>
              <a:buAutoNum type="arabicPeriod" startAt="6"/>
              <a:tabLst>
                <a:tab pos="317500" algn="l"/>
              </a:tabLst>
            </a:pPr>
            <a:r>
              <a:rPr sz="2400" b="1" dirty="0">
                <a:latin typeface="Times New Roman"/>
                <a:cs typeface="Times New Roman"/>
              </a:rPr>
              <a:t>Tool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Integration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Issues</a:t>
            </a:r>
            <a:endParaRPr sz="2400">
              <a:latin typeface="Times New Roman"/>
              <a:cs typeface="Times New Roman"/>
            </a:endParaRPr>
          </a:p>
          <a:p>
            <a:pPr marL="755650" marR="5080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projects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different</a:t>
            </a:r>
            <a:r>
              <a:rPr sz="2400" b="1" spc="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tools</a:t>
            </a:r>
            <a:r>
              <a:rPr sz="2400" b="1" spc="1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(Jira,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MS </a:t>
            </a:r>
            <a:r>
              <a:rPr sz="2400" dirty="0">
                <a:latin typeface="Times New Roman"/>
                <a:cs typeface="Times New Roman"/>
              </a:rPr>
              <a:t>Project,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Trello,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systems)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centralized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metric </a:t>
            </a:r>
            <a:r>
              <a:rPr sz="2400" dirty="0">
                <a:latin typeface="Times New Roman"/>
                <a:cs typeface="Times New Roman"/>
              </a:rPr>
              <a:t>aggregation </a:t>
            </a:r>
            <a:r>
              <a:rPr sz="2400" spc="-10" dirty="0">
                <a:latin typeface="Times New Roman"/>
                <a:cs typeface="Times New Roman"/>
              </a:rPr>
              <a:t>hard.</a:t>
            </a:r>
            <a:endParaRPr sz="2400">
              <a:latin typeface="Times New Roman"/>
              <a:cs typeface="Times New Roman"/>
            </a:endParaRPr>
          </a:p>
          <a:p>
            <a:pPr marL="755650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pipelines.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8505" y="6263513"/>
            <a:ext cx="285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 indent="-69850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4295" algn="l"/>
              </a:tabLst>
            </a:pPr>
            <a:r>
              <a:rPr sz="1400" spc="-25" dirty="0">
                <a:latin typeface="Arial MT"/>
                <a:cs typeface="Arial MT"/>
              </a:rPr>
              <a:t>13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0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857758"/>
            <a:ext cx="33578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7.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Resistance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Teams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425" y="1284478"/>
            <a:ext cx="3186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  <a:tab pos="1939289" algn="l"/>
                <a:tab pos="2717800" algn="l"/>
              </a:tabLst>
            </a:pP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Developers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may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feel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3774" y="1284478"/>
            <a:ext cx="4119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9995" algn="l"/>
                <a:tab pos="1905635" algn="l"/>
                <a:tab pos="2870835" algn="l"/>
                <a:tab pos="371729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metrics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are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being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0" dirty="0">
                <a:latin typeface="Times New Roman"/>
                <a:cs typeface="Times New Roman"/>
              </a:rPr>
              <a:t>used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3175" y="1650238"/>
            <a:ext cx="5890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micromanagement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punishment.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25" y="2076958"/>
            <a:ext cx="3721735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  <a:tabLst>
                <a:tab pos="755015" algn="l"/>
                <a:tab pos="1688464" algn="l"/>
                <a:tab pos="2131695" algn="l"/>
                <a:tab pos="3302635" algn="l"/>
              </a:tabLst>
            </a:pP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Leads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gaming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recorded to look </a:t>
            </a:r>
            <a:r>
              <a:rPr sz="2400" spc="-10" dirty="0">
                <a:latin typeface="Times New Roman"/>
                <a:cs typeface="Times New Roman"/>
              </a:rPr>
              <a:t>good).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b="1" dirty="0">
                <a:latin typeface="Times New Roman"/>
                <a:cs typeface="Times New Roman"/>
              </a:rPr>
              <a:t>8.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Maintenance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Overhead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1974" y="2076958"/>
            <a:ext cx="41167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9185" algn="l"/>
                <a:tab pos="2337435" algn="l"/>
                <a:tab pos="3067685" algn="l"/>
                <a:tab pos="390017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system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(altering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how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work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125" y="3296157"/>
            <a:ext cx="8160384" cy="319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0" indent="-285750" algn="just">
              <a:lnSpc>
                <a:spcPct val="100000"/>
              </a:lnSpc>
              <a:spcBef>
                <a:spcPts val="100"/>
              </a:spcBef>
              <a:buChar char="–"/>
              <a:tabLst>
                <a:tab pos="793750" algn="l"/>
              </a:tabLst>
            </a:pPr>
            <a:r>
              <a:rPr sz="2400" dirty="0">
                <a:latin typeface="Times New Roman"/>
                <a:cs typeface="Times New Roman"/>
              </a:rPr>
              <a:t>Tracking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too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across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projects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increases</a:t>
            </a:r>
            <a:endParaRPr sz="2400">
              <a:latin typeface="Times New Roman"/>
              <a:cs typeface="Times New Roman"/>
            </a:endParaRPr>
          </a:p>
          <a:p>
            <a:pPr marL="793750" algn="just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administrative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effort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93750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93750" algn="l"/>
              </a:tabLst>
            </a:pP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dedicated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personnel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raising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costs.</a:t>
            </a:r>
            <a:endParaRPr sz="2400">
              <a:latin typeface="Times New Roman"/>
              <a:cs typeface="Times New Roman"/>
            </a:endParaRPr>
          </a:p>
          <a:p>
            <a:pPr marL="355600" indent="-304800" algn="just">
              <a:lnSpc>
                <a:spcPct val="100000"/>
              </a:lnSpc>
              <a:spcBef>
                <a:spcPts val="480"/>
              </a:spcBef>
              <a:buAutoNum type="arabicPeriod" startAt="9"/>
              <a:tabLst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Lag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10" dirty="0">
                <a:latin typeface="Times New Roman"/>
                <a:cs typeface="Times New Roman"/>
              </a:rPr>
              <a:t> Insights</a:t>
            </a:r>
            <a:endParaRPr sz="2400">
              <a:latin typeface="Times New Roman"/>
              <a:cs typeface="Times New Roman"/>
            </a:endParaRPr>
          </a:p>
          <a:p>
            <a:pPr marL="793750" marR="59055" lvl="1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93750" algn="l"/>
              </a:tabLst>
            </a:pP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analyzed</a:t>
            </a:r>
            <a:r>
              <a:rPr sz="2400" spc="10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after </a:t>
            </a: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spc="-20" dirty="0">
                <a:latin typeface="Times New Roman"/>
                <a:cs typeface="Times New Roman"/>
              </a:rPr>
              <a:t>time </a:t>
            </a:r>
            <a:r>
              <a:rPr sz="2400" dirty="0">
                <a:latin typeface="Times New Roman"/>
                <a:cs typeface="Times New Roman"/>
              </a:rPr>
              <a:t>decision-</a:t>
            </a:r>
            <a:r>
              <a:rPr sz="2400" spc="-10" dirty="0">
                <a:latin typeface="Times New Roman"/>
                <a:cs typeface="Times New Roman"/>
              </a:rPr>
              <a:t>making.</a:t>
            </a:r>
            <a:endParaRPr sz="2400">
              <a:latin typeface="Times New Roman"/>
              <a:cs typeface="Times New Roman"/>
            </a:endParaRPr>
          </a:p>
          <a:p>
            <a:pPr marL="793750" lvl="1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93750" algn="l"/>
              </a:tabLst>
            </a:pPr>
            <a:r>
              <a:rPr sz="2400" spc="-10" dirty="0">
                <a:latin typeface="Times New Roman"/>
                <a:cs typeface="Times New Roman"/>
              </a:rPr>
              <a:t>Cross-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cleaning</a:t>
            </a:r>
            <a:r>
              <a:rPr sz="2100" spc="-30" baseline="-11904" dirty="0">
                <a:latin typeface="Arial MT"/>
                <a:cs typeface="Arial MT"/>
              </a:rPr>
              <a:t>•</a:t>
            </a:r>
            <a:r>
              <a:rPr sz="2400" spc="-20" dirty="0">
                <a:latin typeface="Times New Roman"/>
                <a:cs typeface="Times New Roman"/>
              </a:rPr>
              <a:t>.</a:t>
            </a:r>
            <a:r>
              <a:rPr sz="2100" spc="-30" baseline="-11904" dirty="0">
                <a:latin typeface="Arial MT"/>
                <a:cs typeface="Arial MT"/>
              </a:rPr>
              <a:t>14</a:t>
            </a:r>
            <a:endParaRPr sz="2100" baseline="-1190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Responsibility</a:t>
            </a:r>
            <a:r>
              <a:rPr spc="-10" dirty="0"/>
              <a:t> </a:t>
            </a:r>
            <a:r>
              <a:rPr dirty="0"/>
              <a:t>Chain</a:t>
            </a:r>
            <a:r>
              <a:rPr spc="-15" dirty="0"/>
              <a:t> </a:t>
            </a:r>
            <a:r>
              <a:rPr dirty="0"/>
              <a:t>in</a:t>
            </a:r>
            <a:r>
              <a:rPr spc="-10" dirty="0"/>
              <a:t> 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677" y="908720"/>
            <a:ext cx="8294686" cy="53365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15</a:t>
            </a:fld>
            <a:endParaRPr b="1" spc="-2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5445">
              <a:lnSpc>
                <a:spcPct val="100000"/>
              </a:lnSpc>
              <a:spcBef>
                <a:spcPts val="100"/>
              </a:spcBef>
            </a:pPr>
            <a:r>
              <a:rPr dirty="0"/>
              <a:t>Assessing</a:t>
            </a:r>
            <a:r>
              <a:rPr spc="-130" dirty="0"/>
              <a:t> </a:t>
            </a:r>
            <a:r>
              <a:rPr spc="-10" dirty="0"/>
              <a:t>progress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313" y="1196975"/>
            <a:ext cx="2574924" cy="26146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2565" y="1223517"/>
            <a:ext cx="8313420" cy="391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0" marR="236220" indent="-34290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Checkpoints</a:t>
            </a:r>
            <a:r>
              <a:rPr sz="2400" b="1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predetermined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when </a:t>
            </a:r>
            <a:r>
              <a:rPr sz="2400" dirty="0">
                <a:latin typeface="Times New Roman"/>
                <a:cs typeface="Times New Roman"/>
              </a:rPr>
              <a:t>progress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checked</a:t>
            </a:r>
            <a:endParaRPr sz="2400">
              <a:latin typeface="Times New Roman"/>
              <a:cs typeface="Times New Roman"/>
            </a:endParaRPr>
          </a:p>
          <a:p>
            <a:pPr marL="3517900" marR="220979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3517900" algn="l"/>
              </a:tabLst>
            </a:pPr>
            <a:r>
              <a:rPr sz="2400" b="1" dirty="0">
                <a:latin typeface="Times New Roman"/>
                <a:cs typeface="Times New Roman"/>
              </a:rPr>
              <a:t>Event</a:t>
            </a:r>
            <a:r>
              <a:rPr sz="2400" b="1" spc="28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driven</a:t>
            </a:r>
            <a:r>
              <a:rPr sz="2400" b="1" spc="2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2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28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place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1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been </a:t>
            </a:r>
            <a:r>
              <a:rPr sz="2400" b="1" spc="-10" dirty="0">
                <a:latin typeface="Times New Roman"/>
                <a:cs typeface="Times New Roman"/>
              </a:rPr>
              <a:t>achieved</a:t>
            </a:r>
            <a:endParaRPr sz="2400">
              <a:latin typeface="Times New Roman"/>
              <a:cs typeface="Times New Roman"/>
            </a:endParaRPr>
          </a:p>
          <a:p>
            <a:pPr marL="3517900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3517900" algn="l"/>
              </a:tabLst>
            </a:pP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5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driven:</a:t>
            </a:r>
            <a:r>
              <a:rPr sz="2400" b="1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date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35179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pre-determined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400">
              <a:latin typeface="Times New Roman"/>
              <a:cs typeface="Times New Roman"/>
            </a:endParaRPr>
          </a:p>
          <a:p>
            <a:pPr marL="309880" marR="5080" indent="-297815">
              <a:lnSpc>
                <a:spcPct val="100000"/>
              </a:lnSpc>
              <a:buFont typeface="Arial"/>
              <a:buChar char="•"/>
              <a:tabLst>
                <a:tab pos="309880" algn="l"/>
              </a:tabLst>
            </a:pPr>
            <a:r>
              <a:rPr sz="2400" b="1" dirty="0">
                <a:latin typeface="Times New Roman"/>
                <a:cs typeface="Times New Roman"/>
              </a:rPr>
              <a:t>Frequency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reporting:</a:t>
            </a:r>
            <a:r>
              <a:rPr sz="2400" b="1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then </a:t>
            </a:r>
            <a:r>
              <a:rPr sz="2400" dirty="0">
                <a:latin typeface="Times New Roman"/>
                <a:cs typeface="Times New Roman"/>
              </a:rPr>
              <a:t>generally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gaps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10" dirty="0">
                <a:latin typeface="Times New Roman"/>
                <a:cs typeface="Times New Roman"/>
              </a:rPr>
              <a:t> checkpoints.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16</a:t>
            </a:fld>
            <a:endParaRPr b="1" spc="-2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00"/>
              </a:spcBef>
            </a:pPr>
            <a:r>
              <a:rPr dirty="0"/>
              <a:t>Collecting</a:t>
            </a:r>
            <a:r>
              <a:rPr spc="-80" dirty="0"/>
              <a:t> </a:t>
            </a:r>
            <a:r>
              <a:rPr dirty="0"/>
              <a:t>progress</a:t>
            </a:r>
            <a:r>
              <a:rPr spc="-8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17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" y="990600"/>
            <a:ext cx="8991600" cy="615809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580"/>
              </a:spcBef>
              <a:buChar char="•"/>
              <a:tabLst>
                <a:tab pos="309245" algn="l"/>
              </a:tabLst>
            </a:pP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collect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about:</a:t>
            </a:r>
            <a:endParaRPr sz="2000" dirty="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000" spc="-10" dirty="0">
                <a:latin typeface="Times New Roman"/>
                <a:cs typeface="Times New Roman"/>
              </a:rPr>
              <a:t>Achievements</a:t>
            </a:r>
            <a:endParaRPr sz="2000" dirty="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000" spc="-10" dirty="0">
                <a:latin typeface="Times New Roman"/>
                <a:cs typeface="Times New Roman"/>
              </a:rPr>
              <a:t>Costs</a:t>
            </a:r>
            <a:endParaRPr sz="2000" dirty="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partial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completions</a:t>
            </a:r>
            <a:endParaRPr sz="2000" dirty="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000" b="1" i="1" dirty="0">
                <a:latin typeface="Times New Roman"/>
                <a:cs typeface="Times New Roman"/>
              </a:rPr>
              <a:t>99%</a:t>
            </a:r>
            <a:r>
              <a:rPr sz="2000" b="1" i="1" spc="-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completion</a:t>
            </a:r>
            <a:r>
              <a:rPr sz="2000" b="1" i="1" spc="-5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syndrome</a:t>
            </a:r>
            <a:endParaRPr lang="en-IN" sz="2000" b="1" i="1" spc="-10" dirty="0">
              <a:latin typeface="Times New Roman"/>
              <a:cs typeface="Times New Roman"/>
            </a:endParaRPr>
          </a:p>
          <a:p>
            <a:pPr marL="424180" lvl="1" algn="just">
              <a:lnSpc>
                <a:spcPct val="100000"/>
              </a:lnSpc>
              <a:spcBef>
                <a:spcPts val="480"/>
              </a:spcBef>
              <a:tabLst>
                <a:tab pos="709295" algn="l"/>
              </a:tabLst>
            </a:pPr>
            <a:r>
              <a:rPr lang="en-US" dirty="0"/>
              <a:t>The "99% Complete Syndrome“ describes the common phenomenon where a </a:t>
            </a:r>
            <a:r>
              <a:rPr lang="en-US" b="1" dirty="0"/>
              <a:t>project seems almost finished but gets stuck</a:t>
            </a:r>
            <a:r>
              <a:rPr lang="en-US" dirty="0"/>
              <a:t>, with the final portion taking disproportionately longer (even as long as the first 99%) due to underestimated complexity, scope creep, integration issues, or overlooked testing, leading to significant delays and frustration despite progress bars racing through the initial stages. </a:t>
            </a:r>
          </a:p>
          <a:p>
            <a:pPr marL="424180" lvl="1" algn="just">
              <a:lnSpc>
                <a:spcPct val="100000"/>
              </a:lnSpc>
              <a:spcBef>
                <a:spcPts val="480"/>
              </a:spcBef>
              <a:tabLst>
                <a:tab pos="709295" algn="l"/>
              </a:tabLst>
            </a:pPr>
            <a:r>
              <a:rPr lang="en-US" dirty="0"/>
              <a:t>It highlights that the </a:t>
            </a:r>
            <a:r>
              <a:rPr lang="en-US" b="1" dirty="0"/>
              <a:t>perceived "last mile" of a project often hides the most challenging parts,</a:t>
            </a:r>
            <a:r>
              <a:rPr lang="en-US" dirty="0"/>
              <a:t> like debugging, integration, or final approvals, making it seem perpetually incomplete.</a:t>
            </a: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endParaRPr lang="en-US" sz="2000" dirty="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Possible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solutions:</a:t>
            </a:r>
            <a:endParaRPr lang="en-US" sz="2000" dirty="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Control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products,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not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activities</a:t>
            </a:r>
            <a:endParaRPr lang="en-US" sz="2000" dirty="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Subdivide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into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lots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10" dirty="0">
                <a:latin typeface="Times New Roman"/>
                <a:cs typeface="Times New Roman"/>
              </a:rPr>
              <a:t> sub-activities</a:t>
            </a:r>
            <a:endParaRPr lang="en-US" sz="2000" dirty="0">
              <a:latin typeface="Times New Roman"/>
              <a:cs typeface="Times New Roman"/>
            </a:endParaRPr>
          </a:p>
          <a:p>
            <a:pPr marL="424180" lvl="1" algn="just">
              <a:lnSpc>
                <a:spcPct val="100000"/>
              </a:lnSpc>
              <a:spcBef>
                <a:spcPts val="480"/>
              </a:spcBef>
              <a:tabLst>
                <a:tab pos="709295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Red/Amber/Green</a:t>
            </a:r>
            <a:r>
              <a:rPr spc="-180" dirty="0"/>
              <a:t> </a:t>
            </a:r>
            <a:r>
              <a:rPr spc="-10" dirty="0"/>
              <a:t>reporting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18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915" y="1158697"/>
            <a:ext cx="7465695" cy="390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Identify key </a:t>
            </a:r>
            <a:r>
              <a:rPr sz="2400" spc="-10" dirty="0">
                <a:latin typeface="Times New Roman"/>
                <a:cs typeface="Times New Roman"/>
              </a:rPr>
              <a:t>tasks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spcBef>
                <a:spcPts val="5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Break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sub-</a:t>
            </a:r>
            <a:r>
              <a:rPr sz="2400" spc="-10" dirty="0">
                <a:latin typeface="Times New Roman"/>
                <a:cs typeface="Times New Roman"/>
              </a:rPr>
              <a:t>tasks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Assess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subtasks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as:</a:t>
            </a:r>
            <a:endParaRPr sz="2400" dirty="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195"/>
              </a:spcBef>
            </a:pPr>
            <a:r>
              <a:rPr sz="2400" b="1" dirty="0">
                <a:latin typeface="Times New Roman"/>
                <a:cs typeface="Times New Roman"/>
              </a:rPr>
              <a:t>Green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target’</a:t>
            </a:r>
            <a:endParaRPr sz="2400" dirty="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190"/>
              </a:spcBef>
            </a:pPr>
            <a:r>
              <a:rPr sz="2400" b="1" dirty="0">
                <a:latin typeface="Times New Roman"/>
                <a:cs typeface="Times New Roman"/>
              </a:rPr>
              <a:t>Amber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target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recoverable’</a:t>
            </a:r>
            <a:endParaRPr sz="2400" dirty="0">
              <a:latin typeface="Times New Roman"/>
              <a:cs typeface="Times New Roman"/>
            </a:endParaRPr>
          </a:p>
          <a:p>
            <a:pPr marL="424180">
              <a:lnSpc>
                <a:spcPct val="100000"/>
              </a:lnSpc>
              <a:spcBef>
                <a:spcPts val="195"/>
              </a:spcBef>
            </a:pPr>
            <a:r>
              <a:rPr sz="2400" b="1" dirty="0">
                <a:latin typeface="Times New Roman"/>
                <a:cs typeface="Times New Roman"/>
              </a:rPr>
              <a:t>Red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target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recoverable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difficulty’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Status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‘critical’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tasks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particularly</a:t>
            </a:r>
            <a:r>
              <a:rPr sz="2400" spc="-10" dirty="0">
                <a:latin typeface="Times New Roman"/>
                <a:cs typeface="Times New Roman"/>
              </a:rPr>
              <a:t> important.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009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Review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19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2920" y="867029"/>
            <a:ext cx="8039734" cy="555752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13055" indent="-300355" algn="just">
              <a:lnSpc>
                <a:spcPct val="100000"/>
              </a:lnSpc>
              <a:spcBef>
                <a:spcPts val="540"/>
              </a:spcBef>
              <a:buChar char="•"/>
              <a:tabLst>
                <a:tab pos="313055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cost-</a:t>
            </a:r>
            <a:r>
              <a:rPr sz="2200" b="1" dirty="0">
                <a:latin typeface="Times New Roman"/>
                <a:cs typeface="Times New Roman"/>
              </a:rPr>
              <a:t>effective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defect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removal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mechanism.</a:t>
            </a:r>
            <a:endParaRPr sz="2200" dirty="0">
              <a:latin typeface="Times New Roman"/>
              <a:cs typeface="Times New Roman"/>
            </a:endParaRPr>
          </a:p>
          <a:p>
            <a:pPr marL="312420" marR="7620" indent="-300355" algn="just">
              <a:lnSpc>
                <a:spcPct val="100000"/>
              </a:lnSpc>
              <a:spcBef>
                <a:spcPts val="439"/>
              </a:spcBef>
              <a:buChar char="•"/>
              <a:tabLst>
                <a:tab pos="313690" algn="l"/>
              </a:tabLst>
            </a:pPr>
            <a:r>
              <a:rPr sz="2200" b="1" dirty="0">
                <a:latin typeface="Times New Roman"/>
                <a:cs typeface="Times New Roman"/>
              </a:rPr>
              <a:t>Review</a:t>
            </a:r>
            <a:r>
              <a:rPr sz="2200" b="1" spc="28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28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work</a:t>
            </a:r>
            <a:r>
              <a:rPr sz="2200" b="1" spc="28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products</a:t>
            </a:r>
            <a:r>
              <a:rPr sz="2200" b="1" spc="2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8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important</a:t>
            </a:r>
            <a:r>
              <a:rPr sz="2200" spc="28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mechanism</a:t>
            </a:r>
            <a:r>
              <a:rPr sz="2200" spc="28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for 	</a:t>
            </a:r>
            <a:r>
              <a:rPr sz="2200" dirty="0">
                <a:latin typeface="Times New Roman"/>
                <a:cs typeface="Times New Roman"/>
              </a:rPr>
              <a:t>monitoring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progress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project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ensuring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quality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	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products.</a:t>
            </a:r>
            <a:endParaRPr sz="2200" dirty="0">
              <a:latin typeface="Times New Roman"/>
              <a:cs typeface="Times New Roman"/>
            </a:endParaRPr>
          </a:p>
          <a:p>
            <a:pPr marL="313055" indent="-300355" algn="just">
              <a:lnSpc>
                <a:spcPct val="100000"/>
              </a:lnSpc>
              <a:spcBef>
                <a:spcPts val="439"/>
              </a:spcBef>
              <a:buChar char="•"/>
              <a:tabLst>
                <a:tab pos="313055" algn="l"/>
              </a:tabLst>
            </a:pPr>
            <a:r>
              <a:rPr sz="2200" dirty="0">
                <a:latin typeface="Times New Roman"/>
                <a:cs typeface="Times New Roman"/>
              </a:rPr>
              <a:t>Testing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effective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defect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removal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mechanism.</a:t>
            </a:r>
            <a:endParaRPr sz="2200" dirty="0">
              <a:latin typeface="Times New Roman"/>
              <a:cs typeface="Times New Roman"/>
            </a:endParaRPr>
          </a:p>
          <a:p>
            <a:pPr marL="713105" lvl="1" indent="-285115" algn="just">
              <a:lnSpc>
                <a:spcPct val="100000"/>
              </a:lnSpc>
              <a:spcBef>
                <a:spcPts val="439"/>
              </a:spcBef>
              <a:buChar char="–"/>
              <a:tabLst>
                <a:tab pos="713105" algn="l"/>
              </a:tabLst>
            </a:pPr>
            <a:r>
              <a:rPr sz="2200" dirty="0">
                <a:latin typeface="Times New Roman"/>
                <a:cs typeface="Times New Roman"/>
              </a:rPr>
              <a:t>However,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testing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applicable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executable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code.</a:t>
            </a:r>
            <a:endParaRPr sz="2200" dirty="0">
              <a:latin typeface="Times New Roman"/>
              <a:cs typeface="Times New Roman"/>
            </a:endParaRPr>
          </a:p>
          <a:p>
            <a:pPr marL="713105" lvl="1" indent="-285115" algn="just">
              <a:lnSpc>
                <a:spcPct val="100000"/>
              </a:lnSpc>
              <a:spcBef>
                <a:spcPts val="439"/>
              </a:spcBef>
              <a:buChar char="–"/>
              <a:tabLst>
                <a:tab pos="713105" algn="l"/>
              </a:tabLst>
            </a:pPr>
            <a:r>
              <a:rPr sz="2200" dirty="0">
                <a:latin typeface="Times New Roman"/>
                <a:cs typeface="Times New Roman"/>
              </a:rPr>
              <a:t>Review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products.</a:t>
            </a:r>
            <a:endParaRPr sz="2200" dirty="0">
              <a:latin typeface="Times New Roman"/>
              <a:cs typeface="Times New Roman"/>
            </a:endParaRPr>
          </a:p>
          <a:p>
            <a:pPr marL="313055" indent="-300355" algn="just">
              <a:lnSpc>
                <a:spcPct val="100000"/>
              </a:lnSpc>
              <a:spcBef>
                <a:spcPts val="439"/>
              </a:spcBef>
              <a:buChar char="•"/>
              <a:tabLst>
                <a:tab pos="313055" algn="l"/>
              </a:tabLst>
            </a:pPr>
            <a:r>
              <a:rPr sz="2200" dirty="0">
                <a:latin typeface="Times New Roman"/>
                <a:cs typeface="Times New Roman"/>
              </a:rPr>
              <a:t>Review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usually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helps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identify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any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deviation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standards.</a:t>
            </a:r>
            <a:endParaRPr sz="2200" dirty="0">
              <a:latin typeface="Times New Roman"/>
              <a:cs typeface="Times New Roman"/>
            </a:endParaRPr>
          </a:p>
          <a:p>
            <a:pPr marL="313055" indent="-300355" algn="just">
              <a:lnSpc>
                <a:spcPct val="100000"/>
              </a:lnSpc>
              <a:spcBef>
                <a:spcPts val="439"/>
              </a:spcBef>
              <a:buChar char="•"/>
              <a:tabLst>
                <a:tab pos="313055" algn="l"/>
              </a:tabLst>
            </a:pPr>
            <a:r>
              <a:rPr sz="2200" dirty="0">
                <a:latin typeface="Times New Roman"/>
                <a:cs typeface="Times New Roman"/>
              </a:rPr>
              <a:t>Reviewers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suggest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ways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improve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product.</a:t>
            </a:r>
            <a:endParaRPr sz="2200" dirty="0">
              <a:latin typeface="Times New Roman"/>
              <a:cs typeface="Times New Roman"/>
            </a:endParaRPr>
          </a:p>
          <a:p>
            <a:pPr marL="312420" marR="5080" indent="-300355" algn="just">
              <a:lnSpc>
                <a:spcPct val="100000"/>
              </a:lnSpc>
              <a:spcBef>
                <a:spcPts val="439"/>
              </a:spcBef>
              <a:buChar char="•"/>
              <a:tabLst>
                <a:tab pos="31369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review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meeting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opportunities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only 	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author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product,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participants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	</a:t>
            </a:r>
            <a:r>
              <a:rPr sz="2200" dirty="0">
                <a:latin typeface="Times New Roman"/>
                <a:cs typeface="Times New Roman"/>
              </a:rPr>
              <a:t>review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meeting.</a:t>
            </a:r>
            <a:endParaRPr sz="2200" dirty="0">
              <a:latin typeface="Times New Roman"/>
              <a:cs typeface="Times New Roman"/>
            </a:endParaRPr>
          </a:p>
          <a:p>
            <a:pPr marL="312420" marR="5080" indent="-300355" algn="just">
              <a:lnSpc>
                <a:spcPct val="100000"/>
              </a:lnSpc>
              <a:spcBef>
                <a:spcPts val="439"/>
              </a:spcBef>
              <a:buChar char="•"/>
              <a:tabLst>
                <a:tab pos="31369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review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participants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gain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good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understanding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spc="-20" dirty="0">
                <a:latin typeface="Times New Roman"/>
                <a:cs typeface="Times New Roman"/>
              </a:rPr>
              <a:t>work 	</a:t>
            </a:r>
            <a:r>
              <a:rPr sz="2200" dirty="0">
                <a:latin typeface="Times New Roman"/>
                <a:cs typeface="Times New Roman"/>
              </a:rPr>
              <a:t>product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under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review,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making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easier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them</a:t>
            </a:r>
            <a:r>
              <a:rPr sz="2200" spc="10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use 	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product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work.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1910">
              <a:lnSpc>
                <a:spcPct val="100000"/>
              </a:lnSpc>
              <a:spcBef>
                <a:spcPts val="100"/>
              </a:spcBef>
            </a:pPr>
            <a:r>
              <a:rPr dirty="0"/>
              <a:t>Review</a:t>
            </a:r>
            <a:r>
              <a:rPr spc="-130" dirty="0"/>
              <a:t> </a:t>
            </a:r>
            <a:r>
              <a:rPr spc="-10" dirty="0"/>
              <a:t>Roles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5915" y="921892"/>
            <a:ext cx="8020684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40005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  <a:tab pos="2009775" algn="l"/>
                <a:tab pos="3422015" algn="l"/>
                <a:tab pos="4038600" algn="l"/>
                <a:tab pos="5349240" algn="l"/>
                <a:tab pos="6703059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Moderator: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Schedules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convenes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meetings,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distributes </a:t>
            </a:r>
            <a:r>
              <a:rPr sz="2400" dirty="0">
                <a:latin typeface="Times New Roman"/>
                <a:cs typeface="Times New Roman"/>
              </a:rPr>
              <a:t>review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materials,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moderates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review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sessions.</a:t>
            </a: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spcBef>
                <a:spcPts val="480"/>
              </a:spcBef>
              <a:buChar char="•"/>
              <a:tabLst>
                <a:tab pos="309245" algn="l"/>
              </a:tabLst>
            </a:pPr>
            <a:r>
              <a:rPr sz="2400" b="1" dirty="0">
                <a:latin typeface="Times New Roman"/>
                <a:cs typeface="Times New Roman"/>
              </a:rPr>
              <a:t>Reviewers: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review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task.</a:t>
            </a:r>
            <a:endParaRPr sz="2400">
              <a:latin typeface="Times New Roman"/>
              <a:cs typeface="Times New Roman"/>
            </a:endParaRPr>
          </a:p>
          <a:p>
            <a:pPr marL="309880" marR="5080" indent="-297815">
              <a:lnSpc>
                <a:spcPct val="100000"/>
              </a:lnSpc>
              <a:spcBef>
                <a:spcPts val="480"/>
              </a:spcBef>
              <a:buChar char="•"/>
              <a:tabLst>
                <a:tab pos="309880" algn="l"/>
                <a:tab pos="5153025" algn="l"/>
              </a:tabLst>
            </a:pPr>
            <a:r>
              <a:rPr sz="2400" b="1" dirty="0">
                <a:latin typeface="Times New Roman"/>
                <a:cs typeface="Times New Roman"/>
              </a:rPr>
              <a:t>Recorder:</a:t>
            </a:r>
            <a:r>
              <a:rPr sz="2400" b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Records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defects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found</a:t>
            </a:r>
            <a:r>
              <a:rPr sz="2400" dirty="0">
                <a:latin typeface="Times New Roman"/>
                <a:cs typeface="Times New Roman"/>
              </a:rPr>
              <a:t>	and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effort data.</a:t>
            </a: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spcBef>
                <a:spcPts val="480"/>
              </a:spcBef>
              <a:buChar char="•"/>
              <a:tabLst>
                <a:tab pos="309245" algn="l"/>
              </a:tabLst>
            </a:pPr>
            <a:r>
              <a:rPr sz="2400" b="1" dirty="0">
                <a:latin typeface="Times New Roman"/>
                <a:cs typeface="Times New Roman"/>
              </a:rPr>
              <a:t>Review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2255" y="3510915"/>
            <a:ext cx="1623060" cy="683895"/>
          </a:xfrm>
          <a:prstGeom prst="rect">
            <a:avLst/>
          </a:prstGeom>
          <a:solidFill>
            <a:srgbClr val="FFFF00"/>
          </a:solidFill>
          <a:ln w="25399">
            <a:solidFill>
              <a:srgbClr val="FFCCFF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1720"/>
              </a:spcBef>
            </a:pP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Planning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5294" y="3510915"/>
            <a:ext cx="1623060" cy="683895"/>
          </a:xfrm>
          <a:prstGeom prst="rect">
            <a:avLst/>
          </a:prstGeom>
          <a:solidFill>
            <a:srgbClr val="FFFF00"/>
          </a:solidFill>
          <a:ln w="25399">
            <a:solidFill>
              <a:srgbClr val="FFCCFF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720"/>
              </a:spcBef>
            </a:pP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Preparation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0465" y="5561647"/>
            <a:ext cx="1623060" cy="683895"/>
          </a:xfrm>
          <a:prstGeom prst="rect">
            <a:avLst/>
          </a:prstGeom>
          <a:solidFill>
            <a:srgbClr val="FFFF00"/>
          </a:solidFill>
          <a:ln w="25399">
            <a:solidFill>
              <a:srgbClr val="FFCCFF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324485" marR="317500" indent="48895">
              <a:lnSpc>
                <a:spcPct val="100000"/>
              </a:lnSpc>
              <a:spcBef>
                <a:spcPts val="580"/>
              </a:spcBef>
            </a:pP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Review meeting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42255" y="5561647"/>
            <a:ext cx="1623060" cy="683895"/>
          </a:xfrm>
          <a:prstGeom prst="rect">
            <a:avLst/>
          </a:prstGeom>
          <a:solidFill>
            <a:srgbClr val="FFFF00"/>
          </a:solidFill>
          <a:ln w="25399">
            <a:solidFill>
              <a:srgbClr val="FFCCFF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247015" marR="84455" indent="-155575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Rework</a:t>
            </a:r>
            <a:r>
              <a:rPr sz="20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follow-</a:t>
            </a:r>
            <a:r>
              <a:rPr sz="2000" b="1" spc="-25" dirty="0">
                <a:solidFill>
                  <a:srgbClr val="FF0000"/>
                </a:solidFill>
                <a:latin typeface="Arial"/>
                <a:cs typeface="Arial"/>
              </a:rPr>
              <a:t>up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78673" y="3782262"/>
            <a:ext cx="1233170" cy="138430"/>
            <a:chOff x="1378673" y="3782262"/>
            <a:chExt cx="1233170" cy="138430"/>
          </a:xfrm>
        </p:grpSpPr>
        <p:sp>
          <p:nvSpPr>
            <p:cNvPr id="9" name="object 9"/>
            <p:cNvSpPr/>
            <p:nvPr/>
          </p:nvSpPr>
          <p:spPr>
            <a:xfrm>
              <a:off x="1378673" y="3851177"/>
              <a:ext cx="1124585" cy="0"/>
            </a:xfrm>
            <a:custGeom>
              <a:avLst/>
              <a:gdLst/>
              <a:ahLst/>
              <a:cxnLst/>
              <a:rect l="l" t="t" r="r" b="b"/>
              <a:pathLst>
                <a:path w="1124585">
                  <a:moveTo>
                    <a:pt x="0" y="0"/>
                  </a:moveTo>
                  <a:lnTo>
                    <a:pt x="1124481" y="0"/>
                  </a:lnTo>
                </a:path>
              </a:pathLst>
            </a:custGeom>
            <a:ln w="31749">
              <a:solidFill>
                <a:srgbClr val="FF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4240" y="3782262"/>
              <a:ext cx="177475" cy="13782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264791" y="3789154"/>
            <a:ext cx="2123440" cy="124460"/>
            <a:chOff x="4264791" y="3789154"/>
            <a:chExt cx="2123440" cy="124460"/>
          </a:xfrm>
        </p:grpSpPr>
        <p:sp>
          <p:nvSpPr>
            <p:cNvPr id="12" name="object 12"/>
            <p:cNvSpPr/>
            <p:nvPr/>
          </p:nvSpPr>
          <p:spPr>
            <a:xfrm>
              <a:off x="4264791" y="3851177"/>
              <a:ext cx="2025650" cy="0"/>
            </a:xfrm>
            <a:custGeom>
              <a:avLst/>
              <a:gdLst/>
              <a:ahLst/>
              <a:cxnLst/>
              <a:rect l="l" t="t" r="r" b="b"/>
              <a:pathLst>
                <a:path w="2025650">
                  <a:moveTo>
                    <a:pt x="0" y="0"/>
                  </a:moveTo>
                  <a:lnTo>
                    <a:pt x="2025311" y="0"/>
                  </a:lnTo>
                </a:path>
              </a:pathLst>
            </a:custGeom>
            <a:ln w="28574">
              <a:solidFill>
                <a:srgbClr val="FF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8080" y="3789154"/>
              <a:ext cx="159727" cy="12404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292277" y="5842938"/>
            <a:ext cx="2123440" cy="124460"/>
            <a:chOff x="4292277" y="5842938"/>
            <a:chExt cx="2123440" cy="124460"/>
          </a:xfrm>
        </p:grpSpPr>
        <p:sp>
          <p:nvSpPr>
            <p:cNvPr id="15" name="object 15"/>
            <p:cNvSpPr/>
            <p:nvPr/>
          </p:nvSpPr>
          <p:spPr>
            <a:xfrm>
              <a:off x="4389982" y="5904961"/>
              <a:ext cx="2025650" cy="0"/>
            </a:xfrm>
            <a:custGeom>
              <a:avLst/>
              <a:gdLst/>
              <a:ahLst/>
              <a:cxnLst/>
              <a:rect l="l" t="t" r="r" b="b"/>
              <a:pathLst>
                <a:path w="2025650">
                  <a:moveTo>
                    <a:pt x="2025311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2277" y="5842938"/>
              <a:ext cx="159727" cy="12404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399721" y="5842729"/>
            <a:ext cx="1249045" cy="124460"/>
            <a:chOff x="1399721" y="5842729"/>
            <a:chExt cx="1249045" cy="124460"/>
          </a:xfrm>
        </p:grpSpPr>
        <p:sp>
          <p:nvSpPr>
            <p:cNvPr id="18" name="object 18"/>
            <p:cNvSpPr/>
            <p:nvPr/>
          </p:nvSpPr>
          <p:spPr>
            <a:xfrm>
              <a:off x="1497425" y="5903436"/>
              <a:ext cx="1137285" cy="1905"/>
            </a:xfrm>
            <a:custGeom>
              <a:avLst/>
              <a:gdLst/>
              <a:ahLst/>
              <a:cxnLst/>
              <a:rect l="l" t="t" r="r" b="b"/>
              <a:pathLst>
                <a:path w="1137285" h="1904">
                  <a:moveTo>
                    <a:pt x="1136781" y="0"/>
                  </a:moveTo>
                  <a:lnTo>
                    <a:pt x="0" y="1374"/>
                  </a:lnTo>
                </a:path>
              </a:pathLst>
            </a:custGeom>
            <a:ln w="28574">
              <a:solidFill>
                <a:srgbClr val="FF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9721" y="5842729"/>
              <a:ext cx="159785" cy="124045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7175181" y="4180204"/>
            <a:ext cx="124460" cy="1354455"/>
            <a:chOff x="7175181" y="4180204"/>
            <a:chExt cx="124460" cy="1354455"/>
          </a:xfrm>
        </p:grpSpPr>
        <p:sp>
          <p:nvSpPr>
            <p:cNvPr id="21" name="object 21"/>
            <p:cNvSpPr/>
            <p:nvPr/>
          </p:nvSpPr>
          <p:spPr>
            <a:xfrm>
              <a:off x="7221732" y="4194492"/>
              <a:ext cx="16510" cy="1242060"/>
            </a:xfrm>
            <a:custGeom>
              <a:avLst/>
              <a:gdLst/>
              <a:ahLst/>
              <a:cxnLst/>
              <a:rect l="l" t="t" r="r" b="b"/>
              <a:pathLst>
                <a:path w="16509" h="1242060">
                  <a:moveTo>
                    <a:pt x="0" y="0"/>
                  </a:moveTo>
                  <a:lnTo>
                    <a:pt x="16086" y="1241974"/>
                  </a:lnTo>
                </a:path>
              </a:pathLst>
            </a:custGeom>
            <a:ln w="28574">
              <a:solidFill>
                <a:srgbClr val="FF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5181" y="5373829"/>
              <a:ext cx="124038" cy="160334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20</a:t>
            </a:fld>
            <a:endParaRPr b="1" spc="-2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587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75" dirty="0"/>
              <a:t> </a:t>
            </a:r>
            <a:r>
              <a:rPr dirty="0"/>
              <a:t>Termination</a:t>
            </a:r>
            <a:r>
              <a:rPr spc="-8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21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915" y="993647"/>
            <a:ext cx="8030845" cy="362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15240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</a:tabLst>
            </a:pPr>
            <a:r>
              <a:rPr sz="2400" b="1" dirty="0">
                <a:latin typeface="Times New Roman"/>
                <a:cs typeface="Times New Roman"/>
              </a:rPr>
              <a:t>Project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termination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reviews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important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opportunities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learn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mistakes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successes.</a:t>
            </a: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spcBef>
                <a:spcPts val="480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Reasons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Termination</a:t>
            </a:r>
            <a:endParaRPr sz="2400">
              <a:latin typeface="Times New Roman"/>
              <a:cs typeface="Times New Roman"/>
            </a:endParaRPr>
          </a:p>
          <a:p>
            <a:pPr marL="709930" marR="53975" lvl="1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709930" algn="l"/>
                <a:tab pos="1757045" algn="l"/>
                <a:tab pos="2148205" algn="l"/>
                <a:tab pos="3670300" algn="l"/>
                <a:tab pos="5380990" algn="l"/>
                <a:tab pos="6446520" algn="l"/>
                <a:tab pos="7173595" algn="l"/>
                <a:tab pos="7596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Project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00B050"/>
                </a:solidFill>
                <a:latin typeface="Times New Roman"/>
                <a:cs typeface="Times New Roman"/>
              </a:rPr>
              <a:t>completed</a:t>
            </a:r>
            <a:r>
              <a:rPr sz="2400" b="1" dirty="0">
                <a:solidFill>
                  <a:srgbClr val="00B05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00B050"/>
                </a:solidFill>
                <a:latin typeface="Times New Roman"/>
                <a:cs typeface="Times New Roman"/>
              </a:rPr>
              <a:t>successfully</a:t>
            </a:r>
            <a:r>
              <a:rPr sz="2400" b="1" dirty="0">
                <a:solidFill>
                  <a:srgbClr val="00B050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handed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over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customer.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Incomplete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Lack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resources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  <a:tab pos="1540510" algn="l"/>
                <a:tab pos="2118360" algn="l"/>
                <a:tab pos="3796029" algn="l"/>
                <a:tab pos="4492625" algn="l"/>
                <a:tab pos="4867275" algn="l"/>
                <a:tab pos="5376545" algn="l"/>
                <a:tab pos="6358890" algn="l"/>
                <a:tab pos="7071359" algn="l"/>
              </a:tabLst>
            </a:pPr>
            <a:r>
              <a:rPr sz="2400" spc="-20" dirty="0">
                <a:latin typeface="Times New Roman"/>
                <a:cs typeface="Times New Roman"/>
              </a:rPr>
              <a:t>Some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key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technologies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used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become</a:t>
            </a:r>
            <a:endParaRPr sz="2400">
              <a:latin typeface="Times New Roman"/>
              <a:cs typeface="Times New Roman"/>
            </a:endParaRPr>
          </a:p>
          <a:p>
            <a:pPr marL="70993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obsolete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execution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425" y="4651247"/>
            <a:ext cx="5743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2400" b="1" spc="4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Economics</a:t>
            </a:r>
            <a:r>
              <a:rPr sz="2400" b="1" spc="22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2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22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changed,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44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1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competing</a:t>
            </a:r>
            <a:r>
              <a:rPr sz="2400" spc="1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18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market.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949" y="4651247"/>
            <a:ext cx="17468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0"/>
              </a:spcBef>
              <a:tabLst>
                <a:tab pos="638175" algn="l"/>
                <a:tab pos="787400" algn="l"/>
              </a:tabLst>
            </a:pP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example </a:t>
            </a:r>
            <a:r>
              <a:rPr sz="2400" spc="-20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spc="-10" dirty="0">
                <a:latin typeface="Times New Roman"/>
                <a:cs typeface="Times New Roman"/>
              </a:rPr>
              <a:t>become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78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75" dirty="0"/>
              <a:t> </a:t>
            </a:r>
            <a:r>
              <a:rPr dirty="0"/>
              <a:t>Termination</a:t>
            </a:r>
            <a:r>
              <a:rPr spc="-8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22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3547" y="1114805"/>
            <a:ext cx="5339080" cy="25146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survey</a:t>
            </a:r>
            <a:endParaRPr sz="2800">
              <a:latin typeface="Times New Roman"/>
              <a:cs typeface="Times New Roman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Collection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objective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</a:t>
            </a:r>
            <a:endParaRPr sz="2800">
              <a:latin typeface="Times New Roman"/>
              <a:cs typeface="Times New Roman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Debriefing </a:t>
            </a:r>
            <a:r>
              <a:rPr sz="2800" spc="-10" dirty="0">
                <a:latin typeface="Times New Roman"/>
                <a:cs typeface="Times New Roman"/>
              </a:rPr>
              <a:t>meeting</a:t>
            </a:r>
            <a:endParaRPr sz="2800">
              <a:latin typeface="Times New Roman"/>
              <a:cs typeface="Times New Roman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Final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review</a:t>
            </a:r>
            <a:endParaRPr sz="2800">
              <a:latin typeface="Times New Roman"/>
              <a:cs typeface="Times New Roman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Times New Roman"/>
                <a:cs typeface="Times New Roman"/>
              </a:rPr>
              <a:t>Result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publication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411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Arial MT"/>
                <a:cs typeface="Arial MT"/>
              </a:rPr>
              <a:t>Gantt</a:t>
            </a:r>
            <a:r>
              <a:rPr sz="3600" b="0" spc="-30" dirty="0">
                <a:latin typeface="Arial MT"/>
                <a:cs typeface="Arial MT"/>
              </a:rPr>
              <a:t> </a:t>
            </a:r>
            <a:r>
              <a:rPr sz="3600" b="0" spc="-10" dirty="0">
                <a:latin typeface="Arial MT"/>
                <a:cs typeface="Arial MT"/>
              </a:rPr>
              <a:t>charts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36612"/>
            <a:ext cx="8229599" cy="53165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23</a:t>
            </a:fld>
            <a:endParaRPr b="1" spc="-2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89095">
              <a:lnSpc>
                <a:spcPct val="100000"/>
              </a:lnSpc>
              <a:spcBef>
                <a:spcPts val="100"/>
              </a:spcBef>
            </a:pPr>
            <a:r>
              <a:rPr dirty="0"/>
              <a:t>Slip</a:t>
            </a:r>
            <a:r>
              <a:rPr spc="-20" dirty="0"/>
              <a:t> </a:t>
            </a:r>
            <a:r>
              <a:rPr spc="-10" dirty="0"/>
              <a:t>Charts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1685" y="908685"/>
            <a:ext cx="4238624" cy="53365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8600" y="930962"/>
            <a:ext cx="4191000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7620" indent="-3022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slip</a:t>
            </a:r>
            <a:r>
              <a:rPr sz="2000" b="1" spc="45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chart</a:t>
            </a:r>
            <a:r>
              <a:rPr sz="2000" b="1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version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Gantt</a:t>
            </a:r>
            <a:r>
              <a:rPr sz="20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chart</a:t>
            </a:r>
            <a:r>
              <a:rPr sz="20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drawn 	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bottom.</a:t>
            </a:r>
            <a:endParaRPr sz="2000" dirty="0">
              <a:latin typeface="Times New Roman"/>
              <a:cs typeface="Times New Roman"/>
            </a:endParaRPr>
          </a:p>
          <a:p>
            <a:pPr marL="314325" marR="21590" indent="-302260" algn="just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left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line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solidFill>
                  <a:srgbClr val="00B050"/>
                </a:solidFill>
                <a:latin typeface="Times New Roman"/>
                <a:cs typeface="Times New Roman"/>
              </a:rPr>
              <a:t>completed</a:t>
            </a:r>
            <a:r>
              <a:rPr sz="2000" b="1" spc="434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/>
                <a:cs typeface="Times New Roman"/>
              </a:rPr>
              <a:t>activities</a:t>
            </a:r>
            <a:r>
              <a:rPr sz="2000" b="1" spc="44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b="1" dirty="0">
                <a:latin typeface="Times New Roman"/>
                <a:cs typeface="Times New Roman"/>
              </a:rPr>
              <a:t>right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those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(or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	</a:t>
            </a:r>
            <a:r>
              <a:rPr sz="2000" dirty="0">
                <a:latin typeface="Times New Roman"/>
                <a:cs typeface="Times New Roman"/>
              </a:rPr>
              <a:t>activities)</a:t>
            </a:r>
            <a:r>
              <a:rPr sz="2000" spc="2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54" dirty="0"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20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0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been 	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completed.</a:t>
            </a:r>
            <a:endParaRPr sz="2000" dirty="0">
              <a:latin typeface="Times New Roman"/>
              <a:cs typeface="Times New Roman"/>
            </a:endParaRPr>
          </a:p>
          <a:p>
            <a:pPr marL="314325" marR="5080" indent="-302260" algn="just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more</a:t>
            </a:r>
            <a:r>
              <a:rPr sz="20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jagged</a:t>
            </a:r>
            <a:r>
              <a:rPr sz="20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lin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there</a:t>
            </a:r>
            <a:r>
              <a:rPr sz="2000" spc="3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are 	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some</a:t>
            </a:r>
            <a:r>
              <a:rPr sz="20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activities</a:t>
            </a:r>
            <a:r>
              <a:rPr sz="20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000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0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lagging</a:t>
            </a:r>
            <a:r>
              <a:rPr sz="2000" spc="2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to 	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various</a:t>
            </a:r>
            <a:r>
              <a:rPr sz="20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degrees</a:t>
            </a:r>
            <a:r>
              <a:rPr sz="2000" spc="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	</a:t>
            </a:r>
            <a:r>
              <a:rPr sz="2000" dirty="0">
                <a:latin typeface="Times New Roman"/>
                <a:cs typeface="Times New Roman"/>
              </a:rPr>
              <a:t>ahead of </a:t>
            </a:r>
            <a:r>
              <a:rPr sz="2000" spc="-10" dirty="0">
                <a:latin typeface="Times New Roman"/>
                <a:cs typeface="Times New Roman"/>
              </a:rPr>
              <a:t>themselves.</a:t>
            </a:r>
            <a:endParaRPr sz="2000" dirty="0">
              <a:latin typeface="Times New Roman"/>
              <a:cs typeface="Times New Roman"/>
            </a:endParaRPr>
          </a:p>
          <a:p>
            <a:pPr marL="314325" marR="5080" indent="-302260" algn="just">
              <a:lnSpc>
                <a:spcPct val="100000"/>
              </a:lnSpc>
              <a:buFont typeface="Arial MT"/>
              <a:buChar char="•"/>
              <a:tabLst>
                <a:tab pos="31686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very</a:t>
            </a:r>
            <a:r>
              <a:rPr sz="20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jagged</a:t>
            </a:r>
            <a:r>
              <a:rPr sz="20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line</a:t>
            </a:r>
            <a:r>
              <a:rPr sz="20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that 	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scope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000" spc="2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re-planning</a:t>
            </a:r>
            <a:r>
              <a:rPr sz="2000" spc="2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to 	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move</a:t>
            </a:r>
            <a:r>
              <a:rPr sz="2000" spc="390" dirty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resources</a:t>
            </a:r>
            <a:r>
              <a:rPr sz="2000" spc="395" dirty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95" dirty="0">
                <a:latin typeface="Times New Roman"/>
                <a:cs typeface="Times New Roman"/>
              </a:rPr>
              <a:t>   </a:t>
            </a:r>
            <a:r>
              <a:rPr sz="2000" spc="-10" dirty="0">
                <a:latin typeface="Times New Roman"/>
                <a:cs typeface="Times New Roman"/>
              </a:rPr>
              <a:t>those 	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  are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ahead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those 	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behind.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24</a:t>
            </a:fld>
            <a:endParaRPr b="1" spc="-2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676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-65" dirty="0"/>
              <a:t> </a:t>
            </a:r>
            <a:r>
              <a:rPr spc="-10" dirty="0"/>
              <a:t>Monitoring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25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6710" y="1209547"/>
            <a:ext cx="8030209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080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late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originally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committed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been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deployed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behind</a:t>
            </a:r>
            <a:r>
              <a:rPr sz="24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under</a:t>
            </a:r>
            <a:r>
              <a:rPr sz="2400" b="1" i="1" spc="-2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00B050"/>
                </a:solidFill>
                <a:latin typeface="Times New Roman"/>
                <a:cs typeface="Times New Roman"/>
              </a:rPr>
              <a:t>budget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09880" marR="54610" indent="-297815">
              <a:lnSpc>
                <a:spcPct val="100000"/>
              </a:lnSpc>
              <a:buChar char="•"/>
              <a:tabLst>
                <a:tab pos="309880" algn="l"/>
                <a:tab pos="709295" algn="l"/>
                <a:tab pos="1733550" algn="l"/>
                <a:tab pos="2590800" algn="l"/>
                <a:tab pos="3060700" algn="l"/>
                <a:tab pos="3562350" algn="l"/>
                <a:tab pos="4318000" algn="l"/>
                <a:tab pos="4886325" algn="l"/>
                <a:tab pos="5608320" algn="l"/>
                <a:tab pos="6750684" algn="l"/>
              </a:tabLst>
            </a:pP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could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00B050"/>
                </a:solidFill>
                <a:latin typeface="Times New Roman"/>
                <a:cs typeface="Times New Roman"/>
              </a:rPr>
              <a:t>on</a:t>
            </a:r>
            <a:r>
              <a:rPr sz="2400" b="1" dirty="0">
                <a:solidFill>
                  <a:srgbClr val="00B050"/>
                </a:solidFill>
                <a:latin typeface="Times New Roman"/>
                <a:cs typeface="Times New Roman"/>
              </a:rPr>
              <a:t>	</a:t>
            </a:r>
            <a:r>
              <a:rPr sz="2400" b="1" spc="-20" dirty="0">
                <a:solidFill>
                  <a:srgbClr val="00B050"/>
                </a:solidFill>
                <a:latin typeface="Times New Roman"/>
                <a:cs typeface="Times New Roman"/>
              </a:rPr>
              <a:t>time</a:t>
            </a:r>
            <a:r>
              <a:rPr sz="2400" b="1" dirty="0">
                <a:solidFill>
                  <a:srgbClr val="00B050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but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only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because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additional </a:t>
            </a:r>
            <a:r>
              <a:rPr sz="2400" dirty="0">
                <a:latin typeface="Times New Roman"/>
                <a:cs typeface="Times New Roman"/>
              </a:rPr>
              <a:t>resources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over</a:t>
            </a:r>
            <a:r>
              <a:rPr sz="24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budget</a:t>
            </a:r>
            <a:r>
              <a:rPr sz="2400" i="1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achievements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costs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1725">
              <a:lnSpc>
                <a:spcPct val="100000"/>
              </a:lnSpc>
              <a:spcBef>
                <a:spcPts val="100"/>
              </a:spcBef>
            </a:pPr>
            <a:r>
              <a:rPr dirty="0"/>
              <a:t>Earned</a:t>
            </a:r>
            <a:r>
              <a:rPr spc="-80" dirty="0"/>
              <a:t> </a:t>
            </a:r>
            <a:r>
              <a:rPr dirty="0"/>
              <a:t>value</a:t>
            </a:r>
            <a:r>
              <a:rPr spc="-8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26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915" y="1309242"/>
            <a:ext cx="8025765" cy="319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34925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  <a:tab pos="1516380" algn="l"/>
                <a:tab pos="2349500" algn="l"/>
                <a:tab pos="3100705" algn="l"/>
                <a:tab pos="3545840" algn="l"/>
                <a:tab pos="4887595" algn="l"/>
                <a:tab pos="5534660" algn="l"/>
                <a:tab pos="5945505" algn="l"/>
                <a:tab pos="6729095" algn="l"/>
              </a:tabLst>
            </a:pPr>
            <a:r>
              <a:rPr sz="2400" b="1" i="1" spc="-10" dirty="0">
                <a:latin typeface="Times New Roman"/>
                <a:cs typeface="Times New Roman"/>
              </a:rPr>
              <a:t>Planned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10" dirty="0">
                <a:latin typeface="Times New Roman"/>
                <a:cs typeface="Times New Roman"/>
              </a:rPr>
              <a:t>value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0" dirty="0">
                <a:latin typeface="Times New Roman"/>
                <a:cs typeface="Times New Roman"/>
              </a:rPr>
              <a:t>(PV)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or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i="1" spc="-10" dirty="0">
                <a:latin typeface="Times New Roman"/>
                <a:cs typeface="Times New Roman"/>
              </a:rPr>
              <a:t>Budgeted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0" dirty="0">
                <a:latin typeface="Times New Roman"/>
                <a:cs typeface="Times New Roman"/>
              </a:rPr>
              <a:t>cost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5" dirty="0">
                <a:latin typeface="Times New Roman"/>
                <a:cs typeface="Times New Roman"/>
              </a:rPr>
              <a:t>of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0" dirty="0">
                <a:latin typeface="Times New Roman"/>
                <a:cs typeface="Times New Roman"/>
              </a:rPr>
              <a:t>work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10" dirty="0">
                <a:latin typeface="Times New Roman"/>
                <a:cs typeface="Times New Roman"/>
              </a:rPr>
              <a:t>scheduled (BCWS)</a:t>
            </a:r>
            <a:endParaRPr sz="2400">
              <a:latin typeface="Times New Roman"/>
              <a:cs typeface="Times New Roman"/>
            </a:endParaRPr>
          </a:p>
          <a:p>
            <a:pPr marL="709930" marR="5080" lvl="1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709930" algn="l"/>
                <a:tab pos="1842135" algn="l"/>
                <a:tab pos="3041650" algn="l"/>
                <a:tab pos="3481704" algn="l"/>
                <a:tab pos="4039235" algn="l"/>
                <a:tab pos="5475605" algn="l"/>
                <a:tab pos="5899150" algn="l"/>
                <a:tab pos="7200265" algn="l"/>
                <a:tab pos="7521575" algn="l"/>
              </a:tabLst>
            </a:pPr>
            <a:r>
              <a:rPr sz="2400" spc="-10" dirty="0">
                <a:latin typeface="Times New Roman"/>
                <a:cs typeface="Times New Roman"/>
              </a:rPr>
              <a:t>original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estimate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effort/cost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complete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task </a:t>
            </a:r>
            <a:r>
              <a:rPr sz="2400" dirty="0">
                <a:latin typeface="Times New Roman"/>
                <a:cs typeface="Times New Roman"/>
              </a:rPr>
              <a:t>(compare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‘price’)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  <a:tab pos="1403985" algn="l"/>
                <a:tab pos="2242820" algn="l"/>
                <a:tab pos="3017520" algn="l"/>
                <a:tab pos="3468370" algn="l"/>
                <a:tab pos="4816475" algn="l"/>
                <a:tab pos="5469255" algn="l"/>
                <a:tab pos="5886450" algn="l"/>
                <a:tab pos="6676390" algn="l"/>
              </a:tabLst>
            </a:pPr>
            <a:r>
              <a:rPr sz="2400" b="1" i="1" spc="-10" dirty="0">
                <a:latin typeface="Times New Roman"/>
                <a:cs typeface="Times New Roman"/>
              </a:rPr>
              <a:t>Earned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10" dirty="0">
                <a:latin typeface="Times New Roman"/>
                <a:cs typeface="Times New Roman"/>
              </a:rPr>
              <a:t>value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0" dirty="0">
                <a:latin typeface="Times New Roman"/>
                <a:cs typeface="Times New Roman"/>
              </a:rPr>
              <a:t>(EV)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or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i="1" spc="-10" dirty="0">
                <a:latin typeface="Times New Roman"/>
                <a:cs typeface="Times New Roman"/>
              </a:rPr>
              <a:t>Budgeted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0" dirty="0">
                <a:latin typeface="Times New Roman"/>
                <a:cs typeface="Times New Roman"/>
              </a:rPr>
              <a:t>cost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5" dirty="0">
                <a:latin typeface="Times New Roman"/>
                <a:cs typeface="Times New Roman"/>
              </a:rPr>
              <a:t>of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20" dirty="0">
                <a:latin typeface="Times New Roman"/>
                <a:cs typeface="Times New Roman"/>
              </a:rPr>
              <a:t>work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b="1" i="1" spc="-10" dirty="0">
                <a:latin typeface="Times New Roman"/>
                <a:cs typeface="Times New Roman"/>
              </a:rPr>
              <a:t>performed</a:t>
            </a:r>
            <a:endParaRPr sz="240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(BCWP)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PVs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647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An</a:t>
            </a:r>
            <a:r>
              <a:rPr sz="3600" spc="-10" dirty="0"/>
              <a:t> Example: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87425" y="1134313"/>
            <a:ext cx="3556000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290"/>
              </a:spcBef>
              <a:buChar char="–"/>
              <a:tabLst>
                <a:tab pos="29781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Tasks</a:t>
            </a:r>
            <a:endParaRPr sz="2400">
              <a:latin typeface="Times New Roman"/>
              <a:cs typeface="Times New Roman"/>
            </a:endParaRPr>
          </a:p>
          <a:p>
            <a:pPr marL="697865" lvl="1" indent="-182880">
              <a:lnSpc>
                <a:spcPct val="100000"/>
              </a:lnSpc>
              <a:spcBef>
                <a:spcPts val="195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Times New Roman"/>
                <a:cs typeface="Times New Roman"/>
              </a:rPr>
              <a:t>Specify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module: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days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0315" y="1914601"/>
            <a:ext cx="1924050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290"/>
              </a:spcBef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module:</a:t>
            </a:r>
            <a:endParaRPr sz="2400">
              <a:latin typeface="Times New Roman"/>
              <a:cs typeface="Times New Roman"/>
            </a:endParaRPr>
          </a:p>
          <a:p>
            <a:pPr marL="195580" indent="-182880">
              <a:lnSpc>
                <a:spcPct val="100000"/>
              </a:lnSpc>
              <a:spcBef>
                <a:spcPts val="195"/>
              </a:spcBef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module: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0625" y="1914601"/>
            <a:ext cx="812800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Times New Roman"/>
                <a:cs typeface="Times New Roman"/>
              </a:rPr>
              <a:t>8 </a:t>
            </a:r>
            <a:r>
              <a:rPr sz="2400" spc="-20" dirty="0">
                <a:latin typeface="Times New Roman"/>
                <a:cs typeface="Times New Roman"/>
              </a:rPr>
              <a:t>days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400" dirty="0">
                <a:latin typeface="Times New Roman"/>
                <a:cs typeface="Times New Roman"/>
              </a:rPr>
              <a:t>6 </a:t>
            </a:r>
            <a:r>
              <a:rPr sz="2400" spc="-20" dirty="0">
                <a:latin typeface="Times New Roman"/>
                <a:cs typeface="Times New Roman"/>
              </a:rPr>
              <a:t>days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425" y="3085033"/>
            <a:ext cx="7085330" cy="23691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290"/>
              </a:spcBef>
              <a:buChar char="–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beginning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20, </a:t>
            </a:r>
            <a:r>
              <a:rPr sz="2400" b="1" dirty="0">
                <a:latin typeface="Times New Roman"/>
                <a:cs typeface="Times New Roman"/>
              </a:rPr>
              <a:t>PV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19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days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95"/>
              </a:spcBef>
              <a:buChar char="–"/>
              <a:tabLst>
                <a:tab pos="29781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everything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EV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13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days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90"/>
              </a:spcBef>
              <a:buChar char="–"/>
              <a:tabLst>
                <a:tab pos="297815" algn="l"/>
              </a:tabLst>
            </a:pPr>
            <a:r>
              <a:rPr sz="2400" b="1" dirty="0">
                <a:latin typeface="Times New Roman"/>
                <a:cs typeface="Times New Roman"/>
              </a:rPr>
              <a:t>Schedule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variance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EV-</a:t>
            </a:r>
            <a:r>
              <a:rPr sz="2400" b="1" dirty="0">
                <a:latin typeface="Times New Roman"/>
                <a:cs typeface="Times New Roman"/>
              </a:rPr>
              <a:t>PV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i.e.,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13-</a:t>
            </a:r>
            <a:r>
              <a:rPr sz="2400" dirty="0">
                <a:latin typeface="Times New Roman"/>
                <a:cs typeface="Times New Roman"/>
              </a:rPr>
              <a:t>19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90"/>
              </a:spcBef>
              <a:buChar char="–"/>
              <a:tabLst>
                <a:tab pos="297815" algn="l"/>
              </a:tabLst>
            </a:pPr>
            <a:r>
              <a:rPr sz="2400" b="1" dirty="0">
                <a:latin typeface="Times New Roman"/>
                <a:cs typeface="Times New Roman"/>
              </a:rPr>
              <a:t>Schedule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indicator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(SPI)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EV/PV</a:t>
            </a:r>
            <a:endParaRPr sz="2400">
              <a:latin typeface="Times New Roman"/>
              <a:cs typeface="Times New Roman"/>
            </a:endParaRPr>
          </a:p>
          <a:p>
            <a:pPr marL="5270500">
              <a:lnSpc>
                <a:spcPct val="100000"/>
              </a:lnSpc>
              <a:spcBef>
                <a:spcPts val="215"/>
              </a:spcBef>
            </a:pP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dirty="0">
                <a:latin typeface="Times New Roman"/>
                <a:cs typeface="Times New Roman"/>
              </a:rPr>
              <a:t>13/19 =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0.68</a:t>
            </a:r>
            <a:endParaRPr sz="2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90"/>
              </a:spcBef>
              <a:buChar char="–"/>
              <a:tabLst>
                <a:tab pos="297815" algn="l"/>
              </a:tabLst>
            </a:pPr>
            <a:r>
              <a:rPr sz="2400" b="1" dirty="0">
                <a:latin typeface="Times New Roman"/>
                <a:cs typeface="Times New Roman"/>
              </a:rPr>
              <a:t>SV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negative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SPI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&lt;1.00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behind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2475">
              <a:lnSpc>
                <a:spcPct val="100000"/>
              </a:lnSpc>
              <a:spcBef>
                <a:spcPts val="100"/>
              </a:spcBef>
            </a:pPr>
            <a:r>
              <a:rPr dirty="0"/>
              <a:t>Accounting </a:t>
            </a:r>
            <a:r>
              <a:rPr spc="-10" dirty="0"/>
              <a:t>conventions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28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915" y="1148587"/>
            <a:ext cx="7822565" cy="41706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580"/>
              </a:spcBef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completed allocated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basis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50/50: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half allocated 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start, 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half on </a:t>
            </a:r>
            <a:r>
              <a:rPr sz="2400" spc="-10" dirty="0">
                <a:latin typeface="Times New Roman"/>
                <a:cs typeface="Times New Roman"/>
              </a:rPr>
              <a:t>completion.</a:t>
            </a:r>
            <a:endParaRPr sz="2400">
              <a:latin typeface="Times New Roman"/>
              <a:cs typeface="Times New Roman"/>
            </a:endParaRPr>
          </a:p>
          <a:p>
            <a:pPr marL="70993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proportions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e.g.,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0/100,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75/25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etc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2400">
              <a:latin typeface="Times New Roman"/>
              <a:cs typeface="Times New Roman"/>
            </a:endParaRPr>
          </a:p>
          <a:p>
            <a:pPr marL="709930" marR="913130" lvl="1" indent="-285750">
              <a:lnSpc>
                <a:spcPct val="100000"/>
              </a:lnSpc>
              <a:buChar char="–"/>
              <a:tabLst>
                <a:tab pos="70993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Milestone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milestones achieved.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buChar char="–"/>
              <a:tabLst>
                <a:tab pos="70929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Units</a:t>
            </a:r>
            <a:r>
              <a:rPr sz="2400" b="1" i="1" spc="-8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processed.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effort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surrogate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/>
              <a:t>Earned</a:t>
            </a:r>
            <a:r>
              <a:rPr spc="-70" dirty="0"/>
              <a:t> </a:t>
            </a:r>
            <a:r>
              <a:rPr dirty="0"/>
              <a:t>Value</a:t>
            </a:r>
            <a:r>
              <a:rPr spc="-70" dirty="0"/>
              <a:t> </a:t>
            </a:r>
            <a:r>
              <a:rPr dirty="0"/>
              <a:t>analysis</a:t>
            </a:r>
            <a:r>
              <a:rPr spc="-65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actual</a:t>
            </a:r>
            <a:r>
              <a:rPr spc="-65" dirty="0"/>
              <a:t> </a:t>
            </a:r>
            <a:r>
              <a:rPr spc="-20" dirty="0"/>
              <a:t>cost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29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marR="5080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13055" algn="l"/>
                <a:tab pos="1332865" algn="l"/>
                <a:tab pos="1998345" algn="l"/>
                <a:tab pos="2800985" algn="l"/>
                <a:tab pos="3162300" algn="l"/>
                <a:tab pos="3811270" algn="l"/>
                <a:tab pos="4798695" algn="l"/>
                <a:tab pos="5210810" algn="l"/>
                <a:tab pos="6230620" algn="l"/>
                <a:tab pos="6896100" algn="l"/>
                <a:tab pos="7308215" algn="l"/>
              </a:tabLst>
            </a:pPr>
            <a:r>
              <a:rPr spc="-10" dirty="0"/>
              <a:t>Actual</a:t>
            </a:r>
            <a:r>
              <a:rPr dirty="0"/>
              <a:t>	</a:t>
            </a:r>
            <a:r>
              <a:rPr spc="-20" dirty="0"/>
              <a:t>cost</a:t>
            </a:r>
            <a:r>
              <a:rPr dirty="0"/>
              <a:t>	</a:t>
            </a:r>
            <a:r>
              <a:rPr spc="-20" dirty="0"/>
              <a:t>(AC)</a:t>
            </a:r>
            <a:r>
              <a:rPr dirty="0"/>
              <a:t>	</a:t>
            </a:r>
            <a:r>
              <a:rPr b="0" spc="-25" dirty="0">
                <a:latin typeface="Times New Roman"/>
                <a:cs typeface="Times New Roman"/>
              </a:rPr>
              <a:t>is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b="0" spc="-20" dirty="0">
                <a:latin typeface="Times New Roman"/>
                <a:cs typeface="Times New Roman"/>
              </a:rPr>
              <a:t>also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b="0" spc="-10" dirty="0">
                <a:latin typeface="Times New Roman"/>
                <a:cs typeface="Times New Roman"/>
              </a:rPr>
              <a:t>known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b="0" spc="-25" dirty="0">
                <a:latin typeface="Times New Roman"/>
                <a:cs typeface="Times New Roman"/>
              </a:rPr>
              <a:t>as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spc="-10" dirty="0"/>
              <a:t>Actual</a:t>
            </a:r>
            <a:r>
              <a:rPr dirty="0"/>
              <a:t>	</a:t>
            </a:r>
            <a:r>
              <a:rPr spc="-20" dirty="0"/>
              <a:t>cost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work </a:t>
            </a:r>
            <a:r>
              <a:rPr dirty="0"/>
              <a:t>performed</a:t>
            </a:r>
            <a:r>
              <a:rPr spc="-45" dirty="0"/>
              <a:t> </a:t>
            </a:r>
            <a:r>
              <a:rPr spc="-10" dirty="0"/>
              <a:t>(ACWP)</a:t>
            </a:r>
          </a:p>
          <a:p>
            <a:pPr marL="311785" indent="-296545">
              <a:lnSpc>
                <a:spcPct val="100000"/>
              </a:lnSpc>
              <a:spcBef>
                <a:spcPts val="480"/>
              </a:spcBef>
              <a:buChar char="•"/>
              <a:tabLst>
                <a:tab pos="312420" algn="l"/>
              </a:tabLst>
            </a:pP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previous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example,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if</a:t>
            </a:r>
          </a:p>
          <a:p>
            <a:pPr marL="71183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12470" algn="l"/>
              </a:tabLst>
            </a:pPr>
            <a:r>
              <a:rPr sz="2400" dirty="0">
                <a:latin typeface="Times New Roman"/>
                <a:cs typeface="Times New Roman"/>
              </a:rPr>
              <a:t>‘</a:t>
            </a:r>
            <a:r>
              <a:rPr sz="2400" b="1" dirty="0">
                <a:latin typeface="Times New Roman"/>
                <a:cs typeface="Times New Roman"/>
              </a:rPr>
              <a:t>Specify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dirty="0">
                <a:latin typeface="Times New Roman"/>
                <a:cs typeface="Times New Roman"/>
              </a:rPr>
              <a:t>’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days</a:t>
            </a:r>
            <a:endParaRPr sz="2400">
              <a:latin typeface="Times New Roman"/>
              <a:cs typeface="Times New Roman"/>
            </a:endParaRPr>
          </a:p>
          <a:p>
            <a:pPr marL="71183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12470" algn="l"/>
              </a:tabLst>
            </a:pPr>
            <a:r>
              <a:rPr sz="2400" dirty="0">
                <a:latin typeface="Times New Roman"/>
                <a:cs typeface="Times New Roman"/>
              </a:rPr>
              <a:t>‘</a:t>
            </a:r>
            <a:r>
              <a:rPr sz="2400" b="1" dirty="0">
                <a:latin typeface="Times New Roman"/>
                <a:cs typeface="Times New Roman"/>
              </a:rPr>
              <a:t>Code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module</a:t>
            </a:r>
            <a:r>
              <a:rPr sz="2400" dirty="0">
                <a:latin typeface="Times New Roman"/>
                <a:cs typeface="Times New Roman"/>
              </a:rPr>
              <a:t>’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20" dirty="0">
                <a:latin typeface="Times New Roman"/>
                <a:cs typeface="Times New Roman"/>
              </a:rPr>
              <a:t> days</a:t>
            </a:r>
            <a:endParaRPr sz="2400">
              <a:latin typeface="Times New Roman"/>
              <a:cs typeface="Times New Roman"/>
            </a:endParaRPr>
          </a:p>
          <a:p>
            <a:pPr marL="311785" indent="-296545">
              <a:lnSpc>
                <a:spcPct val="100000"/>
              </a:lnSpc>
              <a:spcBef>
                <a:spcPts val="480"/>
              </a:spcBef>
              <a:buChar char="•"/>
              <a:tabLst>
                <a:tab pos="312420" algn="l"/>
              </a:tabLst>
            </a:pPr>
            <a:r>
              <a:rPr dirty="0"/>
              <a:t>Actual</a:t>
            </a:r>
            <a:r>
              <a:rPr spc="-40" dirty="0"/>
              <a:t> </a:t>
            </a:r>
            <a:r>
              <a:rPr dirty="0"/>
              <a:t>cost</a:t>
            </a:r>
            <a:r>
              <a:rPr spc="-25" dirty="0"/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7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days</a:t>
            </a:r>
          </a:p>
          <a:p>
            <a:pPr marL="311785" indent="-296545">
              <a:lnSpc>
                <a:spcPct val="100000"/>
              </a:lnSpc>
              <a:spcBef>
                <a:spcPts val="480"/>
              </a:spcBef>
              <a:buChar char="•"/>
              <a:tabLst>
                <a:tab pos="312420" algn="l"/>
              </a:tabLst>
            </a:pPr>
            <a:r>
              <a:rPr dirty="0"/>
              <a:t>Cost</a:t>
            </a:r>
            <a:r>
              <a:rPr spc="-30" dirty="0"/>
              <a:t> </a:t>
            </a:r>
            <a:r>
              <a:rPr dirty="0"/>
              <a:t>variance</a:t>
            </a:r>
            <a:r>
              <a:rPr spc="-35" dirty="0"/>
              <a:t> </a:t>
            </a:r>
            <a:r>
              <a:rPr dirty="0"/>
              <a:t>(CV)</a:t>
            </a:r>
            <a:r>
              <a:rPr spc="-15" dirty="0"/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spc="-25" dirty="0"/>
              <a:t>EV-AC</a:t>
            </a:r>
          </a:p>
          <a:p>
            <a:pPr marL="2865120">
              <a:lnSpc>
                <a:spcPct val="100000"/>
              </a:lnSpc>
              <a:spcBef>
                <a:spcPts val="270"/>
              </a:spcBef>
            </a:pPr>
            <a:r>
              <a:rPr b="0" dirty="0">
                <a:latin typeface="Times New Roman"/>
                <a:cs typeface="Times New Roman"/>
              </a:rPr>
              <a:t>i.e., </a:t>
            </a:r>
            <a:r>
              <a:rPr b="0" spc="-20" dirty="0">
                <a:latin typeface="Times New Roman"/>
                <a:cs typeface="Times New Roman"/>
              </a:rPr>
              <a:t>13-</a:t>
            </a:r>
            <a:r>
              <a:rPr b="0" dirty="0">
                <a:latin typeface="Times New Roman"/>
                <a:cs typeface="Times New Roman"/>
              </a:rPr>
              <a:t>7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dirty="0"/>
              <a:t>6</a:t>
            </a:r>
            <a:r>
              <a:rPr spc="5" dirty="0"/>
              <a:t> </a:t>
            </a:r>
            <a:r>
              <a:rPr spc="-20" dirty="0"/>
              <a:t>days</a:t>
            </a:r>
          </a:p>
          <a:p>
            <a:pPr marL="311785" indent="-296545">
              <a:lnSpc>
                <a:spcPct val="100000"/>
              </a:lnSpc>
              <a:spcBef>
                <a:spcPts val="420"/>
              </a:spcBef>
              <a:buChar char="•"/>
              <a:tabLst>
                <a:tab pos="312420" algn="l"/>
              </a:tabLst>
            </a:pPr>
            <a:r>
              <a:rPr dirty="0"/>
              <a:t>Cost</a:t>
            </a:r>
            <a:r>
              <a:rPr spc="-35" dirty="0"/>
              <a:t> </a:t>
            </a:r>
            <a:r>
              <a:rPr dirty="0"/>
              <a:t>performance</a:t>
            </a:r>
            <a:r>
              <a:rPr spc="-35" dirty="0"/>
              <a:t> </a:t>
            </a:r>
            <a:r>
              <a:rPr dirty="0"/>
              <a:t>indicator</a:t>
            </a:r>
            <a:r>
              <a:rPr spc="-40" dirty="0"/>
              <a:t> </a:t>
            </a:r>
            <a:r>
              <a:rPr dirty="0"/>
              <a:t>(CPI)</a:t>
            </a: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dirty="0"/>
              <a:t>EV</a:t>
            </a:r>
            <a:r>
              <a:rPr spc="-40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spc="-25" dirty="0"/>
              <a:t>AC</a:t>
            </a:r>
          </a:p>
          <a:p>
            <a:pPr marL="4693920">
              <a:lnSpc>
                <a:spcPct val="100000"/>
              </a:lnSpc>
              <a:spcBef>
                <a:spcPts val="270"/>
              </a:spcBef>
            </a:pPr>
            <a:r>
              <a:rPr b="0" dirty="0">
                <a:latin typeface="Times New Roman"/>
                <a:cs typeface="Times New Roman"/>
              </a:rPr>
              <a:t>=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13/7 = </a:t>
            </a:r>
            <a:r>
              <a:rPr spc="-20" dirty="0"/>
              <a:t>1.86</a:t>
            </a:r>
          </a:p>
          <a:p>
            <a:pPr marL="311785" indent="-296545">
              <a:lnSpc>
                <a:spcPct val="100000"/>
              </a:lnSpc>
              <a:spcBef>
                <a:spcPts val="420"/>
              </a:spcBef>
              <a:buChar char="•"/>
              <a:tabLst>
                <a:tab pos="312420" algn="l"/>
              </a:tabLst>
            </a:pPr>
            <a:r>
              <a:rPr dirty="0"/>
              <a:t>Positive</a:t>
            </a:r>
            <a:r>
              <a:rPr spc="-40" dirty="0"/>
              <a:t> </a:t>
            </a:r>
            <a:r>
              <a:rPr dirty="0"/>
              <a:t>CV</a:t>
            </a:r>
            <a:r>
              <a:rPr spc="-15" dirty="0"/>
              <a:t> </a:t>
            </a:r>
            <a:r>
              <a:rPr b="0" dirty="0">
                <a:latin typeface="Times New Roman"/>
                <a:cs typeface="Times New Roman"/>
              </a:rPr>
              <a:t>or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dirty="0"/>
              <a:t>CPI</a:t>
            </a:r>
            <a:r>
              <a:rPr spc="-35" dirty="0"/>
              <a:t> </a:t>
            </a:r>
            <a:r>
              <a:rPr dirty="0"/>
              <a:t>&gt;</a:t>
            </a:r>
            <a:r>
              <a:rPr spc="-35" dirty="0"/>
              <a:t> </a:t>
            </a:r>
            <a:r>
              <a:rPr dirty="0"/>
              <a:t>1.00</a:t>
            </a:r>
            <a:r>
              <a:rPr spc="-35" dirty="0"/>
              <a:t> </a:t>
            </a:r>
            <a:r>
              <a:rPr b="0" dirty="0">
                <a:latin typeface="Times New Roman"/>
                <a:cs typeface="Times New Roman"/>
              </a:rPr>
              <a:t>means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project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B050"/>
                </a:solidFill>
              </a:rPr>
              <a:t>within</a:t>
            </a:r>
            <a:r>
              <a:rPr spc="-40" dirty="0">
                <a:solidFill>
                  <a:srgbClr val="00B050"/>
                </a:solidFill>
              </a:rPr>
              <a:t> </a:t>
            </a:r>
            <a:r>
              <a:rPr spc="-10" dirty="0">
                <a:solidFill>
                  <a:srgbClr val="00B050"/>
                </a:solidFill>
              </a:rPr>
              <a:t>budget.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04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30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5115" y="935227"/>
            <a:ext cx="8138795" cy="52679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0045" indent="-296545">
              <a:lnSpc>
                <a:spcPct val="100000"/>
              </a:lnSpc>
              <a:spcBef>
                <a:spcPts val="580"/>
              </a:spcBef>
              <a:buChar char="•"/>
              <a:tabLst>
                <a:tab pos="360045" algn="l"/>
              </a:tabLst>
            </a:pPr>
            <a:r>
              <a:rPr sz="2400" dirty="0">
                <a:latin typeface="Times New Roman"/>
                <a:cs typeface="Times New Roman"/>
              </a:rPr>
              <a:t>CPI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estimate</a:t>
            </a:r>
            <a:endParaRPr sz="2400">
              <a:latin typeface="Times New Roman"/>
              <a:cs typeface="Times New Roman"/>
            </a:endParaRPr>
          </a:p>
          <a:p>
            <a:pPr marL="360680" marR="85725" indent="-297815">
              <a:lnSpc>
                <a:spcPct val="100000"/>
              </a:lnSpc>
              <a:spcBef>
                <a:spcPts val="480"/>
              </a:spcBef>
              <a:buChar char="•"/>
              <a:tabLst>
                <a:tab pos="360680" algn="l"/>
                <a:tab pos="1421130" algn="l"/>
                <a:tab pos="1804035" algn="l"/>
                <a:tab pos="3371850" algn="l"/>
                <a:tab pos="4349115" algn="l"/>
                <a:tab pos="4630420" algn="l"/>
                <a:tab pos="5621020" algn="l"/>
                <a:tab pos="6578600" algn="l"/>
                <a:tab pos="780732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Budget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at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completion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0" dirty="0">
                <a:latin typeface="Times New Roman"/>
                <a:cs typeface="Times New Roman"/>
              </a:rPr>
              <a:t>(BAC)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current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budget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allocated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total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endParaRPr sz="2400">
              <a:latin typeface="Times New Roman"/>
              <a:cs typeface="Times New Roman"/>
            </a:endParaRPr>
          </a:p>
          <a:p>
            <a:pPr marL="360045" indent="-296545">
              <a:lnSpc>
                <a:spcPct val="100000"/>
              </a:lnSpc>
              <a:spcBef>
                <a:spcPts val="480"/>
              </a:spcBef>
              <a:buChar char="•"/>
              <a:tabLst>
                <a:tab pos="360045" algn="l"/>
              </a:tabLst>
            </a:pPr>
            <a:r>
              <a:rPr sz="2400" b="1" dirty="0">
                <a:latin typeface="Times New Roman"/>
                <a:cs typeface="Times New Roman"/>
              </a:rPr>
              <a:t>Estimate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completion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(EAC)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updated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estimate</a:t>
            </a:r>
            <a:endParaRPr sz="2400">
              <a:latin typeface="Times New Roman"/>
              <a:cs typeface="Times New Roman"/>
            </a:endParaRPr>
          </a:p>
          <a:p>
            <a:pPr marL="474980" algn="just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BAC/CPI</a:t>
            </a:r>
            <a:endParaRPr sz="2400">
              <a:latin typeface="Times New Roman"/>
              <a:cs typeface="Times New Roman"/>
            </a:endParaRPr>
          </a:p>
          <a:p>
            <a:pPr marL="760730" lvl="1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60730" algn="l"/>
              </a:tabLst>
            </a:pPr>
            <a:r>
              <a:rPr sz="2400" b="1" dirty="0">
                <a:latin typeface="Times New Roman"/>
                <a:cs typeface="Times New Roman"/>
              </a:rPr>
              <a:t>e.g.,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£19,000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1.86</a:t>
            </a:r>
            <a:endParaRPr sz="2400">
              <a:latin typeface="Times New Roman"/>
              <a:cs typeface="Times New Roman"/>
            </a:endParaRPr>
          </a:p>
          <a:p>
            <a:pPr marL="760730" marR="111125" lvl="1" indent="-28575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60730" algn="l"/>
              </a:tabLst>
            </a:pPr>
            <a:r>
              <a:rPr sz="2400" b="1" dirty="0">
                <a:latin typeface="Times New Roman"/>
                <a:cs typeface="Times New Roman"/>
              </a:rPr>
              <a:t>EAC</a:t>
            </a:r>
            <a:r>
              <a:rPr sz="2400" b="1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BAC/CPI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£10,215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(projected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costs</a:t>
            </a:r>
            <a:r>
              <a:rPr sz="2400" spc="11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reduced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time)</a:t>
            </a:r>
            <a:endParaRPr sz="2400">
              <a:latin typeface="Times New Roman"/>
              <a:cs typeface="Times New Roman"/>
            </a:endParaRPr>
          </a:p>
          <a:p>
            <a:pPr marL="360680" marR="136525" indent="-29781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60680" algn="l"/>
              </a:tabLst>
            </a:pP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29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variance</a:t>
            </a:r>
            <a:r>
              <a:rPr sz="2400" b="1" spc="29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(TV)</a:t>
            </a:r>
            <a:r>
              <a:rPr sz="2400" b="1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2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difference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when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reached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was.</a:t>
            </a:r>
            <a:endParaRPr sz="2400">
              <a:latin typeface="Times New Roman"/>
              <a:cs typeface="Times New Roman"/>
            </a:endParaRPr>
          </a:p>
          <a:p>
            <a:pPr marL="360680" marR="55880" indent="-29781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60680" algn="l"/>
              </a:tabLst>
            </a:pP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4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example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say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£19000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supposed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have </a:t>
            </a:r>
            <a:r>
              <a:rPr sz="2400" dirty="0">
                <a:latin typeface="Times New Roman"/>
                <a:cs typeface="Times New Roman"/>
              </a:rPr>
              <a:t>been reached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baseline="31250" dirty="0">
                <a:latin typeface="Times New Roman"/>
                <a:cs typeface="Times New Roman"/>
              </a:rPr>
              <a:t>st</a:t>
            </a:r>
            <a:r>
              <a:rPr sz="2400" spc="315" baseline="31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April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reached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1</a:t>
            </a:r>
            <a:r>
              <a:rPr sz="2400" baseline="31250" dirty="0">
                <a:latin typeface="Times New Roman"/>
                <a:cs typeface="Times New Roman"/>
              </a:rPr>
              <a:t>st</a:t>
            </a:r>
            <a:r>
              <a:rPr sz="2400" spc="315" baseline="31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July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TV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-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months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0345" y="209010"/>
            <a:ext cx="72123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Earned</a:t>
            </a:r>
            <a:r>
              <a:rPr spc="-80" dirty="0"/>
              <a:t> </a:t>
            </a:r>
            <a:r>
              <a:rPr dirty="0"/>
              <a:t>value</a:t>
            </a:r>
            <a:r>
              <a:rPr spc="-75" dirty="0"/>
              <a:t> </a:t>
            </a:r>
            <a:r>
              <a:rPr dirty="0"/>
              <a:t>chart</a:t>
            </a:r>
            <a:r>
              <a:rPr spc="-75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revised</a:t>
            </a:r>
            <a:r>
              <a:rPr spc="-80" dirty="0"/>
              <a:t> </a:t>
            </a:r>
            <a:r>
              <a:rPr spc="-10" dirty="0"/>
              <a:t>forecasts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31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915" y="1066038"/>
            <a:ext cx="803402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planned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(PV),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earned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(EV)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actual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(AC)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tracked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lifetime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	</a:t>
            </a:r>
            <a:r>
              <a:rPr sz="2400" spc="-10" dirty="0">
                <a:latin typeface="Times New Roman"/>
                <a:cs typeface="Times New Roman"/>
              </a:rPr>
              <a:t>project.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07975" marR="5715" indent="-295910" algn="just">
              <a:lnSpc>
                <a:spcPct val="100000"/>
              </a:lnSpc>
              <a:buFont typeface="Arial MT"/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graph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adjustments 	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duration.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07975" marR="5715" indent="-295910" algn="just">
              <a:lnSpc>
                <a:spcPct val="100000"/>
              </a:lnSpc>
              <a:buFont typeface="Arial MT"/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revised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assessment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budget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completion</a:t>
            </a:r>
            <a:r>
              <a:rPr sz="2400" spc="13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(EAC 	</a:t>
            </a:r>
            <a:r>
              <a:rPr sz="2400" dirty="0">
                <a:latin typeface="Times New Roman"/>
                <a:cs typeface="Times New Roman"/>
              </a:rPr>
              <a:t>estimate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completion)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produced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dividing</a:t>
            </a:r>
            <a:r>
              <a:rPr sz="2400" spc="114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estimated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completion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(BAC)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current 	</a:t>
            </a:r>
            <a:r>
              <a:rPr sz="2400" spc="-20" dirty="0">
                <a:latin typeface="Times New Roman"/>
                <a:cs typeface="Times New Roman"/>
              </a:rPr>
              <a:t>CPI.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07975" marR="8255" indent="-295910" algn="just">
              <a:lnSpc>
                <a:spcPct val="100000"/>
              </a:lnSpc>
              <a:buFont typeface="Arial MT"/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Similarly,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forecast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actual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	</a:t>
            </a:r>
            <a:r>
              <a:rPr sz="2400" dirty="0">
                <a:latin typeface="Times New Roman"/>
                <a:cs typeface="Times New Roman"/>
              </a:rPr>
              <a:t>derived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dividing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estimated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duration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SPI.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8195">
              <a:lnSpc>
                <a:spcPct val="100000"/>
              </a:lnSpc>
              <a:spcBef>
                <a:spcPts val="100"/>
              </a:spcBef>
            </a:pPr>
            <a:r>
              <a:rPr dirty="0"/>
              <a:t>Prioritizing </a:t>
            </a:r>
            <a:r>
              <a:rPr spc="-10" dirty="0"/>
              <a:t>Monitoring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32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325" y="1210183"/>
            <a:ext cx="7640320" cy="3256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monitoring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certain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activity </a:t>
            </a:r>
            <a:r>
              <a:rPr sz="2400" spc="-20" dirty="0">
                <a:latin typeface="Times New Roman"/>
                <a:cs typeface="Times New Roman"/>
              </a:rPr>
              <a:t>e.g.</a:t>
            </a:r>
            <a:endParaRPr sz="2400">
              <a:latin typeface="Times New Roman"/>
              <a:cs typeface="Times New Roman"/>
            </a:endParaRPr>
          </a:p>
          <a:p>
            <a:pPr marL="354965" indent="-29718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Critical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path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activities</a:t>
            </a:r>
            <a:endParaRPr sz="2400">
              <a:latin typeface="Times New Roman"/>
              <a:cs typeface="Times New Roman"/>
            </a:endParaRPr>
          </a:p>
          <a:p>
            <a:pPr marL="355600" marR="20320" indent="-297815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</a:t>
            </a:r>
            <a:r>
              <a:rPr sz="2400" b="1" spc="2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free</a:t>
            </a:r>
            <a:r>
              <a:rPr sz="2400" b="1" spc="2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float</a:t>
            </a:r>
            <a:r>
              <a:rPr sz="2400" b="1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delayed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later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dependent </a:t>
            </a: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delayed</a:t>
            </a:r>
            <a:endParaRPr sz="2400">
              <a:latin typeface="Times New Roman"/>
              <a:cs typeface="Times New Roman"/>
            </a:endParaRPr>
          </a:p>
          <a:p>
            <a:pPr marL="354965" indent="-29718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specified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float</a:t>
            </a:r>
            <a:endParaRPr sz="2400">
              <a:latin typeface="Times New Roman"/>
              <a:cs typeface="Times New Roman"/>
            </a:endParaRPr>
          </a:p>
          <a:p>
            <a:pPr marL="354965" indent="-29718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High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risk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activities</a:t>
            </a:r>
            <a:endParaRPr sz="2400">
              <a:latin typeface="Times New Roman"/>
              <a:cs typeface="Times New Roman"/>
            </a:endParaRPr>
          </a:p>
          <a:p>
            <a:pPr marL="354965" indent="-29718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critical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resources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9790">
              <a:lnSpc>
                <a:spcPct val="100000"/>
              </a:lnSpc>
              <a:spcBef>
                <a:spcPts val="100"/>
              </a:spcBef>
            </a:pPr>
            <a:r>
              <a:rPr dirty="0"/>
              <a:t>Getting</a:t>
            </a:r>
            <a:r>
              <a:rPr spc="-15" dirty="0"/>
              <a:t> </a:t>
            </a:r>
            <a:r>
              <a:rPr dirty="0"/>
              <a:t>back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track:</a:t>
            </a:r>
            <a:r>
              <a:rPr spc="-5" dirty="0"/>
              <a:t> </a:t>
            </a:r>
            <a:r>
              <a:rPr spc="-10" dirty="0"/>
              <a:t>options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33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915" y="1187958"/>
            <a:ext cx="8031480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sz="2400" b="1" dirty="0">
                <a:latin typeface="Times New Roman"/>
                <a:cs typeface="Times New Roman"/>
              </a:rPr>
              <a:t>Renegotiate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deadline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20" dirty="0">
                <a:latin typeface="Times New Roman"/>
                <a:cs typeface="Times New Roman"/>
              </a:rPr>
              <a:t> then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Try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shorten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critical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path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e.g.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dirty="0">
                <a:latin typeface="Times New Roman"/>
                <a:cs typeface="Times New Roman"/>
              </a:rPr>
              <a:t>Work </a:t>
            </a:r>
            <a:r>
              <a:rPr sz="2400" spc="-10" dirty="0">
                <a:latin typeface="Times New Roman"/>
                <a:cs typeface="Times New Roman"/>
              </a:rPr>
              <a:t>overtime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spc="-10" dirty="0">
                <a:latin typeface="Times New Roman"/>
                <a:cs typeface="Times New Roman"/>
              </a:rPr>
              <a:t>Re-</a:t>
            </a:r>
            <a:r>
              <a:rPr sz="2400" dirty="0">
                <a:latin typeface="Times New Roman"/>
                <a:cs typeface="Times New Roman"/>
              </a:rPr>
              <a:t>allocate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pressing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dirty="0">
                <a:latin typeface="Times New Roman"/>
                <a:cs typeface="Times New Roman"/>
              </a:rPr>
              <a:t>Buy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10" dirty="0">
                <a:latin typeface="Times New Roman"/>
                <a:cs typeface="Times New Roman"/>
              </a:rPr>
              <a:t> staff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Times New Roman"/>
                <a:cs typeface="Times New Roman"/>
              </a:rPr>
              <a:t>Reconsider </a:t>
            </a:r>
            <a:r>
              <a:rPr sz="2400" b="1" dirty="0">
                <a:latin typeface="Times New Roman"/>
                <a:cs typeface="Times New Roman"/>
              </a:rPr>
              <a:t>activity </a:t>
            </a:r>
            <a:r>
              <a:rPr sz="2400" b="1" spc="-10" dirty="0">
                <a:latin typeface="Times New Roman"/>
                <a:cs typeface="Times New Roman"/>
              </a:rPr>
              <a:t>dependencies</a:t>
            </a:r>
            <a:endParaRPr sz="2400">
              <a:latin typeface="Times New Roman"/>
              <a:cs typeface="Times New Roman"/>
            </a:endParaRPr>
          </a:p>
          <a:p>
            <a:pPr marL="709930" marR="5080" lvl="1" indent="-285750">
              <a:lnSpc>
                <a:spcPct val="100000"/>
              </a:lnSpc>
              <a:spcBef>
                <a:spcPts val="480"/>
              </a:spcBef>
              <a:buChar char="–"/>
              <a:tabLst>
                <a:tab pos="709930" algn="l"/>
              </a:tabLst>
            </a:pPr>
            <a:r>
              <a:rPr sz="2400" dirty="0">
                <a:latin typeface="Times New Roman"/>
                <a:cs typeface="Times New Roman"/>
              </a:rPr>
              <a:t>Over-lap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activity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does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another</a:t>
            </a:r>
            <a:endParaRPr sz="2400">
              <a:latin typeface="Times New Roman"/>
              <a:cs typeface="Times New Roman"/>
            </a:endParaRPr>
          </a:p>
          <a:p>
            <a:pPr marL="70929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09295" algn="l"/>
              </a:tabLst>
            </a:pPr>
            <a:r>
              <a:rPr sz="2400" dirty="0">
                <a:latin typeface="Times New Roman"/>
                <a:cs typeface="Times New Roman"/>
              </a:rPr>
              <a:t>Split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activities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6929">
              <a:lnSpc>
                <a:spcPct val="100000"/>
              </a:lnSpc>
              <a:spcBef>
                <a:spcPts val="100"/>
              </a:spcBef>
            </a:pPr>
            <a:r>
              <a:rPr dirty="0"/>
              <a:t>Change</a:t>
            </a:r>
            <a:r>
              <a:rPr spc="-3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34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75" y="1148587"/>
            <a:ext cx="8075295" cy="25247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configuration</a:t>
            </a:r>
            <a:r>
              <a:rPr sz="2400" spc="-10" dirty="0">
                <a:latin typeface="Times New Roman"/>
                <a:cs typeface="Times New Roman"/>
              </a:rPr>
              <a:t> librarian:</a:t>
            </a:r>
            <a:endParaRPr sz="2400">
              <a:latin typeface="Times New Roman"/>
              <a:cs typeface="Times New Roman"/>
            </a:endParaRPr>
          </a:p>
          <a:p>
            <a:pPr marL="354965" indent="-29718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Identifying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control</a:t>
            </a:r>
            <a:endParaRPr sz="2400">
              <a:latin typeface="Times New Roman"/>
              <a:cs typeface="Times New Roman"/>
            </a:endParaRPr>
          </a:p>
          <a:p>
            <a:pPr marL="355600" marR="5080" indent="-297815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2076450" algn="l"/>
                <a:tab pos="2463800" algn="l"/>
                <a:tab pos="2731135" algn="l"/>
                <a:tab pos="3691890" algn="l"/>
                <a:tab pos="5060315" algn="l"/>
                <a:tab pos="5447030" algn="l"/>
                <a:tab pos="5951855" algn="l"/>
                <a:tab pos="6896734" algn="l"/>
                <a:tab pos="7808595" algn="l"/>
              </a:tabLst>
            </a:pPr>
            <a:r>
              <a:rPr sz="2400" spc="-10" dirty="0">
                <a:latin typeface="Times New Roman"/>
                <a:cs typeface="Times New Roman"/>
              </a:rPr>
              <a:t>Management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central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repository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master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copies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  <a:p>
            <a:pPr marL="354965" indent="-29718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Administering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procedures</a:t>
            </a:r>
            <a:endParaRPr sz="2400">
              <a:latin typeface="Times New Roman"/>
              <a:cs typeface="Times New Roman"/>
            </a:endParaRPr>
          </a:p>
          <a:p>
            <a:pPr marL="354965" indent="-29718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Maintenance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records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391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35" dirty="0"/>
              <a:t> </a:t>
            </a:r>
            <a:r>
              <a:rPr dirty="0"/>
              <a:t>change</a:t>
            </a:r>
            <a:r>
              <a:rPr spc="-35" dirty="0"/>
              <a:t> </a:t>
            </a:r>
            <a:r>
              <a:rPr dirty="0"/>
              <a:t>control</a:t>
            </a:r>
            <a:r>
              <a:rPr spc="-3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384">
              <a:lnSpc>
                <a:spcPts val="1645"/>
              </a:lnSpc>
            </a:pPr>
            <a:r>
              <a:rPr b="1" spc="-25" dirty="0">
                <a:latin typeface="Arial"/>
                <a:cs typeface="Arial"/>
              </a:rPr>
              <a:t>•</a:t>
            </a:r>
            <a:fld id="{81D60167-4931-47E6-BA6A-407CBD079E47}" type="slidenum">
              <a:rPr b="1" spc="-25" dirty="0">
                <a:latin typeface="Times New Roman"/>
                <a:cs typeface="Times New Roman"/>
              </a:rPr>
              <a:t>35</a:t>
            </a:fld>
            <a:endParaRPr b="1" spc="-2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4820" y="940003"/>
            <a:ext cx="8156575" cy="50609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698500" indent="-685800" algn="just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perceive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change</a:t>
            </a:r>
            <a:endParaRPr sz="2400">
              <a:latin typeface="Times New Roman"/>
              <a:cs typeface="Times New Roman"/>
            </a:endParaRPr>
          </a:p>
          <a:p>
            <a:pPr marL="698500" marR="11430" indent="-685800" algn="just">
              <a:lnSpc>
                <a:spcPts val="2590"/>
              </a:lnSpc>
              <a:spcBef>
                <a:spcPts val="520"/>
              </a:spcBef>
              <a:buAutoNum type="arabicPeriod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decide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change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valid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worthwhile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marL="698500" marR="5080" indent="-685800" algn="just">
              <a:lnSpc>
                <a:spcPts val="2590"/>
              </a:lnSpc>
              <a:spcBef>
                <a:spcPts val="484"/>
              </a:spcBef>
              <a:buAutoNum type="arabicPeriod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assigned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assess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practicality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change</a:t>
            </a:r>
            <a:endParaRPr sz="2400">
              <a:latin typeface="Times New Roman"/>
              <a:cs typeface="Times New Roman"/>
            </a:endParaRPr>
          </a:p>
          <a:p>
            <a:pPr marL="698500" marR="10160" indent="-685800" algn="just">
              <a:lnSpc>
                <a:spcPts val="2590"/>
              </a:lnSpc>
              <a:spcBef>
                <a:spcPts val="484"/>
              </a:spcBef>
              <a:buAutoNum type="arabicPeriod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report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change;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decide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whether </a:t>
            </a:r>
            <a:r>
              <a:rPr sz="2400" dirty="0">
                <a:latin typeface="Times New Roman"/>
                <a:cs typeface="Times New Roman"/>
              </a:rPr>
              <a:t>to go </a:t>
            </a:r>
            <a:r>
              <a:rPr sz="2400" spc="-10" dirty="0">
                <a:latin typeface="Times New Roman"/>
                <a:cs typeface="Times New Roman"/>
              </a:rPr>
              <a:t>ahead</a:t>
            </a:r>
            <a:endParaRPr sz="2400">
              <a:latin typeface="Times New Roman"/>
              <a:cs typeface="Times New Roman"/>
            </a:endParaRPr>
          </a:p>
          <a:p>
            <a:pPr marL="698500" marR="6350" indent="-685800" algn="just">
              <a:lnSpc>
                <a:spcPts val="2590"/>
              </a:lnSpc>
              <a:spcBef>
                <a:spcPts val="484"/>
              </a:spcBef>
              <a:buAutoNum type="arabicPeriod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developers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authorized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copies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components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modified</a:t>
            </a:r>
            <a:endParaRPr sz="2400">
              <a:latin typeface="Times New Roman"/>
              <a:cs typeface="Times New Roman"/>
            </a:endParaRPr>
          </a:p>
          <a:p>
            <a:pPr marL="698500" marR="6985" indent="-685800" algn="just">
              <a:lnSpc>
                <a:spcPts val="2590"/>
              </a:lnSpc>
              <a:spcBef>
                <a:spcPts val="484"/>
              </a:spcBef>
              <a:buAutoNum type="arabicPeriod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Copies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modified.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After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initial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testing,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version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released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acceptance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marL="698500" marR="6985" indent="-685800" algn="just">
              <a:lnSpc>
                <a:spcPts val="2590"/>
              </a:lnSpc>
              <a:spcBef>
                <a:spcPts val="480"/>
              </a:spcBef>
              <a:buAutoNum type="arabicPeriod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satisfied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operational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release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authorized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master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configuration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items</a:t>
            </a:r>
            <a:r>
              <a:rPr sz="2400" spc="-10" dirty="0">
                <a:latin typeface="Times New Roman"/>
                <a:cs typeface="Times New Roman"/>
              </a:rPr>
              <a:t> updated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356" y="172022"/>
            <a:ext cx="65239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65" dirty="0"/>
              <a:t> </a:t>
            </a:r>
            <a:r>
              <a:rPr dirty="0"/>
              <a:t>Configuration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pc="-25" dirty="0"/>
              <a:t>•</a:t>
            </a: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5915" y="1138428"/>
            <a:ext cx="8307070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6350" indent="-29781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4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deliverables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SW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consist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objects,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e.g.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code,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document,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SRS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document,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test </a:t>
            </a:r>
            <a:r>
              <a:rPr sz="2400" dirty="0">
                <a:latin typeface="Times New Roman"/>
                <a:cs typeface="Times New Roman"/>
              </a:rPr>
              <a:t>document,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user’s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manual,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309880" marR="8890" indent="-29781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09880" algn="l"/>
                <a:tab pos="390525" algn="l"/>
              </a:tabLst>
            </a:pPr>
            <a:r>
              <a:rPr sz="2400" dirty="0">
                <a:latin typeface="Times New Roman"/>
                <a:cs typeface="Times New Roman"/>
              </a:rPr>
              <a:t>	These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modified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engineers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through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5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cycle.</a:t>
            </a:r>
            <a:endParaRPr sz="2400">
              <a:latin typeface="Times New Roman"/>
              <a:cs typeface="Times New Roman"/>
            </a:endParaRPr>
          </a:p>
          <a:p>
            <a:pPr marL="309880" marR="9525" indent="-29781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changes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bugs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detected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fixed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09880" marR="11430" indent="-29781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configuration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project </a:t>
            </a:r>
            <a:r>
              <a:rPr sz="2400" dirty="0">
                <a:latin typeface="Times New Roman"/>
                <a:cs typeface="Times New Roman"/>
              </a:rPr>
              <a:t>deliverables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309880" marR="5080" indent="-29781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09880" algn="l"/>
              </a:tabLst>
            </a:pPr>
            <a:r>
              <a:rPr sz="2400" dirty="0">
                <a:latin typeface="Times New Roman"/>
                <a:cs typeface="Times New Roman"/>
              </a:rPr>
              <a:t>SCM</a:t>
            </a:r>
            <a:r>
              <a:rPr sz="2400" spc="3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deals</a:t>
            </a:r>
            <a:r>
              <a:rPr sz="2400" spc="3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3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effectively</a:t>
            </a:r>
            <a:r>
              <a:rPr sz="2400" spc="3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tracking</a:t>
            </a:r>
            <a:r>
              <a:rPr sz="2400" spc="3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controlling</a:t>
            </a:r>
            <a:r>
              <a:rPr sz="2400" spc="36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configuration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life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cycle.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1912" y="100584"/>
            <a:ext cx="30721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Necessity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25" dirty="0"/>
              <a:t>SCM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7525" y="851534"/>
            <a:ext cx="8109584" cy="601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41275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68300" algn="l"/>
                <a:tab pos="2765425" algn="l"/>
                <a:tab pos="4940935" algn="l"/>
                <a:tab pos="7749540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deliverable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objects</a:t>
            </a:r>
            <a:r>
              <a:rPr sz="2000" dirty="0">
                <a:latin typeface="Times New Roman"/>
                <a:cs typeface="Times New Roman"/>
              </a:rPr>
              <a:t>	with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view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avoiding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following </a:t>
            </a:r>
            <a:r>
              <a:rPr sz="2000" spc="-10" dirty="0">
                <a:latin typeface="Times New Roman"/>
                <a:cs typeface="Times New Roman"/>
              </a:rPr>
              <a:t>problems</a:t>
            </a:r>
            <a:endParaRPr sz="2000">
              <a:latin typeface="Times New Roman"/>
              <a:cs typeface="Times New Roman"/>
            </a:endParaRPr>
          </a:p>
          <a:p>
            <a:pPr marL="767715" lvl="1" indent="-285115">
              <a:lnSpc>
                <a:spcPct val="100000"/>
              </a:lnSpc>
              <a:spcBef>
                <a:spcPts val="400"/>
              </a:spcBef>
              <a:buChar char="–"/>
              <a:tabLst>
                <a:tab pos="767715" algn="l"/>
              </a:tabLst>
            </a:pPr>
            <a:r>
              <a:rPr sz="2000" dirty="0">
                <a:latin typeface="Times New Roman"/>
                <a:cs typeface="Times New Roman"/>
              </a:rPr>
              <a:t>Inconsistency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replicated.</a:t>
            </a:r>
            <a:endParaRPr sz="2000">
              <a:latin typeface="Times New Roman"/>
              <a:cs typeface="Times New Roman"/>
            </a:endParaRPr>
          </a:p>
          <a:p>
            <a:pPr marL="767715" lvl="1" indent="-285115">
              <a:lnSpc>
                <a:spcPct val="100000"/>
              </a:lnSpc>
              <a:spcBef>
                <a:spcPts val="400"/>
              </a:spcBef>
              <a:buChar char="–"/>
              <a:tabLst>
                <a:tab pos="767715" algn="l"/>
              </a:tabLst>
            </a:pPr>
            <a:r>
              <a:rPr sz="2000" dirty="0">
                <a:latin typeface="Times New Roman"/>
                <a:cs typeface="Times New Roman"/>
              </a:rPr>
              <a:t>Problems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associated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concurrent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access.</a:t>
            </a:r>
            <a:endParaRPr sz="2000">
              <a:latin typeface="Times New Roman"/>
              <a:cs typeface="Times New Roman"/>
            </a:endParaRPr>
          </a:p>
          <a:p>
            <a:pPr marL="767715" lvl="1" indent="-285115">
              <a:lnSpc>
                <a:spcPct val="100000"/>
              </a:lnSpc>
              <a:spcBef>
                <a:spcPts val="400"/>
              </a:spcBef>
              <a:buChar char="–"/>
              <a:tabLst>
                <a:tab pos="767715" algn="l"/>
              </a:tabLst>
            </a:pP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environment.</a:t>
            </a:r>
            <a:endParaRPr sz="2000">
              <a:latin typeface="Times New Roman"/>
              <a:cs typeface="Times New Roman"/>
            </a:endParaRPr>
          </a:p>
          <a:p>
            <a:pPr marL="767715" lvl="1" indent="-285115">
              <a:lnSpc>
                <a:spcPct val="100000"/>
              </a:lnSpc>
              <a:spcBef>
                <a:spcPts val="400"/>
              </a:spcBef>
              <a:buChar char="–"/>
              <a:tabLst>
                <a:tab pos="767715" algn="l"/>
              </a:tabLst>
            </a:pP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accounting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status</a:t>
            </a:r>
            <a:r>
              <a:rPr sz="2000" spc="-10" dirty="0">
                <a:latin typeface="Times New Roman"/>
                <a:cs typeface="Times New Roman"/>
              </a:rPr>
              <a:t> information.</a:t>
            </a:r>
            <a:endParaRPr sz="2000">
              <a:latin typeface="Times New Roman"/>
              <a:cs typeface="Times New Roman"/>
            </a:endParaRPr>
          </a:p>
          <a:p>
            <a:pPr marL="768350" marR="19685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68350" algn="l"/>
                <a:tab pos="2807335" algn="l"/>
              </a:tabLst>
            </a:pP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variants.</a:t>
            </a:r>
            <a:r>
              <a:rPr sz="2000" dirty="0">
                <a:latin typeface="Times New Roman"/>
                <a:cs typeface="Times New Roman"/>
              </a:rPr>
              <a:t>	If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bug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found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variants,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be </a:t>
            </a: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variants</a:t>
            </a:r>
            <a:endParaRPr sz="20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sz="2000" b="1" dirty="0">
                <a:latin typeface="Times New Roman"/>
                <a:cs typeface="Times New Roman"/>
              </a:rPr>
              <a:t>SCM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activities</a:t>
            </a:r>
            <a:endParaRPr sz="2000">
              <a:latin typeface="Times New Roman"/>
              <a:cs typeface="Times New Roman"/>
            </a:endParaRPr>
          </a:p>
          <a:p>
            <a:pPr marL="768350" marR="237490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68350" algn="l"/>
              </a:tabLst>
            </a:pPr>
            <a:r>
              <a:rPr sz="2000" b="1" dirty="0">
                <a:latin typeface="Times New Roman"/>
                <a:cs typeface="Times New Roman"/>
              </a:rPr>
              <a:t>Configuration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identification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deciding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(configuration </a:t>
            </a:r>
            <a:r>
              <a:rPr sz="2000" dirty="0">
                <a:latin typeface="Times New Roman"/>
                <a:cs typeface="Times New Roman"/>
              </a:rPr>
              <a:t>items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kept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track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of.</a:t>
            </a:r>
            <a:endParaRPr sz="2000">
              <a:latin typeface="Times New Roman"/>
              <a:cs typeface="Times New Roman"/>
            </a:endParaRPr>
          </a:p>
          <a:p>
            <a:pPr marL="768350" marR="542925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68350" algn="l"/>
              </a:tabLst>
            </a:pPr>
            <a:r>
              <a:rPr sz="2000" b="1" dirty="0">
                <a:latin typeface="Times New Roman"/>
                <a:cs typeface="Times New Roman"/>
              </a:rPr>
              <a:t>Configuration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happen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ambiguity.</a:t>
            </a:r>
            <a:endParaRPr sz="2000">
              <a:latin typeface="Times New Roman"/>
              <a:cs typeface="Times New Roman"/>
            </a:endParaRPr>
          </a:p>
          <a:p>
            <a:pPr marL="368300" marR="46355" indent="-304800">
              <a:lnSpc>
                <a:spcPct val="100000"/>
              </a:lnSpc>
              <a:spcBef>
                <a:spcPts val="400"/>
              </a:spcBef>
              <a:buChar char="•"/>
              <a:tabLst>
                <a:tab pos="368300" algn="l"/>
              </a:tabLst>
            </a:pPr>
            <a:r>
              <a:rPr sz="2000" b="1" dirty="0">
                <a:latin typeface="Times New Roman"/>
                <a:cs typeface="Times New Roman"/>
              </a:rPr>
              <a:t>Baseline: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effective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SCM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place,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manager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freezes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base</a:t>
            </a:r>
            <a:r>
              <a:rPr sz="20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line.</a:t>
            </a:r>
            <a:endParaRPr sz="2000">
              <a:latin typeface="Times New Roman"/>
              <a:cs typeface="Times New Roman"/>
            </a:endParaRPr>
          </a:p>
          <a:p>
            <a:pPr marL="768350" marR="17780" lvl="1" indent="-285750" algn="just">
              <a:lnSpc>
                <a:spcPct val="100000"/>
              </a:lnSpc>
              <a:spcBef>
                <a:spcPts val="400"/>
              </a:spcBef>
              <a:buChar char="–"/>
              <a:tabLst>
                <a:tab pos="76835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baseline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status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control.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n</a:t>
            </a:r>
            <a:r>
              <a:rPr sz="2000" spc="-595" dirty="0">
                <a:latin typeface="Times New Roman"/>
                <a:cs typeface="Times New Roman"/>
              </a:rPr>
              <a:t>e</a:t>
            </a:r>
            <a:r>
              <a:rPr sz="2100" spc="-22" baseline="15873" dirty="0">
                <a:latin typeface="Arial MT"/>
                <a:cs typeface="Arial MT"/>
              </a:rPr>
              <a:t>•</a:t>
            </a:r>
            <a:r>
              <a:rPr sz="2100" spc="-1050" baseline="15873" dirty="0">
                <a:latin typeface="Arial MT"/>
                <a:cs typeface="Arial MT"/>
              </a:rPr>
              <a:t>3</a:t>
            </a:r>
            <a:r>
              <a:rPr sz="2000" spc="-780" dirty="0">
                <a:latin typeface="Times New Roman"/>
                <a:cs typeface="Times New Roman"/>
              </a:rPr>
              <a:t>w</a:t>
            </a:r>
            <a:r>
              <a:rPr sz="2100" spc="-22" baseline="15873" dirty="0">
                <a:latin typeface="Arial MT"/>
                <a:cs typeface="Arial MT"/>
              </a:rPr>
              <a:t>7</a:t>
            </a:r>
            <a:r>
              <a:rPr sz="2100" baseline="15873" dirty="0">
                <a:latin typeface="Arial MT"/>
                <a:cs typeface="Arial MT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baseline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formed.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878" y="192976"/>
            <a:ext cx="57581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Configuration</a:t>
            </a:r>
            <a:r>
              <a:rPr spc="-35" dirty="0"/>
              <a:t> </a:t>
            </a:r>
            <a:r>
              <a:rPr dirty="0"/>
              <a:t>item</a:t>
            </a:r>
            <a:r>
              <a:rPr spc="-30" dirty="0"/>
              <a:t> </a:t>
            </a:r>
            <a:r>
              <a:rPr spc="-10" dirty="0"/>
              <a:t>identification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884" y="712470"/>
            <a:ext cx="8461375" cy="566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500"/>
              </a:spcBef>
              <a:buChar char="•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Categories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objects:</a:t>
            </a:r>
            <a:endParaRPr sz="2000">
              <a:latin typeface="Times New Roman"/>
              <a:cs typeface="Times New Roman"/>
            </a:endParaRPr>
          </a:p>
          <a:p>
            <a:pPr marL="716915" marR="43815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16915" algn="l"/>
                <a:tab pos="1939289" algn="l"/>
                <a:tab pos="2929890" algn="l"/>
                <a:tab pos="3511550" algn="l"/>
                <a:tab pos="4225290" algn="l"/>
                <a:tab pos="5786755" algn="l"/>
                <a:tab pos="6697345" algn="l"/>
                <a:tab pos="7341234" algn="l"/>
                <a:tab pos="7676515" algn="l"/>
              </a:tabLst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Controlled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objects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under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Configuration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(CC)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Formal </a:t>
            </a:r>
            <a:r>
              <a:rPr sz="2000" dirty="0">
                <a:latin typeface="Times New Roman"/>
                <a:cs typeface="Times New Roman"/>
              </a:rPr>
              <a:t>procedures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them.</a:t>
            </a:r>
            <a:endParaRPr sz="2000">
              <a:latin typeface="Times New Roman"/>
              <a:cs typeface="Times New Roman"/>
            </a:endParaRPr>
          </a:p>
          <a:p>
            <a:pPr marL="716915" marR="15875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16915" algn="l"/>
                <a:tab pos="3126740" algn="l"/>
                <a:tab pos="504444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Pre-controlled</a:t>
            </a:r>
            <a:r>
              <a:rPr sz="20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objects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yet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under</a:t>
            </a:r>
            <a:r>
              <a:rPr sz="2000" dirty="0">
                <a:latin typeface="Times New Roman"/>
                <a:cs typeface="Times New Roman"/>
              </a:rPr>
              <a:t>	CC,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eventually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under </a:t>
            </a:r>
            <a:r>
              <a:rPr sz="2000" spc="-25" dirty="0">
                <a:latin typeface="Times New Roman"/>
                <a:cs typeface="Times New Roman"/>
              </a:rPr>
              <a:t>CC.</a:t>
            </a:r>
            <a:endParaRPr sz="2000">
              <a:latin typeface="Times New Roman"/>
              <a:cs typeface="Times New Roman"/>
            </a:endParaRPr>
          </a:p>
          <a:p>
            <a:pPr marL="716915" lvl="1" indent="-285115">
              <a:lnSpc>
                <a:spcPct val="100000"/>
              </a:lnSpc>
              <a:spcBef>
                <a:spcPts val="400"/>
              </a:spcBef>
              <a:buChar char="–"/>
              <a:tabLst>
                <a:tab pos="716915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Uncontrolled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objects</a:t>
            </a:r>
            <a:r>
              <a:rPr sz="2000" spc="48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subjected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CC</a:t>
            </a:r>
            <a:endParaRPr sz="2000">
              <a:latin typeface="Times New Roman"/>
              <a:cs typeface="Times New Roman"/>
            </a:endParaRPr>
          </a:p>
          <a:p>
            <a:pPr marL="716915" marR="24765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16915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Controllable</a:t>
            </a:r>
            <a:r>
              <a:rPr sz="2000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objects</a:t>
            </a:r>
            <a:r>
              <a:rPr sz="2000" spc="2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controlled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precontrolled</a:t>
            </a:r>
            <a:r>
              <a:rPr sz="2000" b="1" spc="2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objects</a:t>
            </a:r>
            <a:r>
              <a:rPr sz="2000" spc="-10" dirty="0">
                <a:latin typeface="Times New Roman"/>
                <a:cs typeface="Times New Roman"/>
              </a:rPr>
              <a:t>; </a:t>
            </a:r>
            <a:r>
              <a:rPr sz="2000" dirty="0">
                <a:latin typeface="Times New Roman"/>
                <a:cs typeface="Times New Roman"/>
              </a:rPr>
              <a:t>examples: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document,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documents,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cases</a:t>
            </a:r>
            <a:endParaRPr sz="2000">
              <a:latin typeface="Times New Roman"/>
              <a:cs typeface="Times New Roman"/>
            </a:endParaRPr>
          </a:p>
          <a:p>
            <a:pPr marL="316865" marR="561975" indent="114300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written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planning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phase,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all </a:t>
            </a:r>
            <a:r>
              <a:rPr sz="2000" dirty="0">
                <a:latin typeface="Times New Roman"/>
                <a:cs typeface="Times New Roman"/>
              </a:rPr>
              <a:t>controlled </a:t>
            </a:r>
            <a:r>
              <a:rPr sz="2000" spc="-10" dirty="0">
                <a:latin typeface="Times New Roman"/>
                <a:cs typeface="Times New Roman"/>
              </a:rPr>
              <a:t>objects.</a:t>
            </a:r>
            <a:endParaRPr sz="2000">
              <a:latin typeface="Times New Roman"/>
              <a:cs typeface="Times New Roman"/>
            </a:endParaRPr>
          </a:p>
          <a:p>
            <a:pPr marL="316865" marR="5080" indent="-304800" algn="just">
              <a:lnSpc>
                <a:spcPct val="100000"/>
              </a:lnSpc>
              <a:spcBef>
                <a:spcPts val="4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00B050"/>
                </a:solidFill>
                <a:latin typeface="Times New Roman"/>
                <a:cs typeface="Times New Roman"/>
              </a:rPr>
              <a:t>Configuration</a:t>
            </a:r>
            <a:r>
              <a:rPr sz="2000" b="1" spc="10" dirty="0">
                <a:solidFill>
                  <a:srgbClr val="00B05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B050"/>
                </a:solidFill>
                <a:latin typeface="Times New Roman"/>
                <a:cs typeface="Times New Roman"/>
              </a:rPr>
              <a:t>Control</a:t>
            </a:r>
            <a:r>
              <a:rPr sz="2000" b="1" spc="15" dirty="0">
                <a:solidFill>
                  <a:srgbClr val="00B05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B050"/>
                </a:solidFill>
                <a:latin typeface="Times New Roman"/>
                <a:cs typeface="Times New Roman"/>
              </a:rPr>
              <a:t>(CC):</a:t>
            </a:r>
            <a:r>
              <a:rPr sz="2000" b="1" spc="15" dirty="0">
                <a:solidFill>
                  <a:srgbClr val="00B05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controlled </a:t>
            </a:r>
            <a:r>
              <a:rPr sz="2000" dirty="0">
                <a:latin typeface="Times New Roman"/>
                <a:cs typeface="Times New Roman"/>
              </a:rPr>
              <a:t>objects.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authorized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controlled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objects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prevents </a:t>
            </a:r>
            <a:r>
              <a:rPr sz="2000" dirty="0">
                <a:latin typeface="Times New Roman"/>
                <a:cs typeface="Times New Roman"/>
              </a:rPr>
              <a:t>unauthorized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16915" marR="9525" lvl="1" indent="-285750" algn="just">
              <a:lnSpc>
                <a:spcPct val="100000"/>
              </a:lnSpc>
              <a:spcBef>
                <a:spcPts val="400"/>
              </a:spcBef>
              <a:buChar char="–"/>
              <a:tabLst>
                <a:tab pos="71691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controlled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get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reserve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16915" marR="9525" lvl="1" indent="-285750" algn="just">
              <a:lnSpc>
                <a:spcPct val="100000"/>
              </a:lnSpc>
              <a:spcBef>
                <a:spcPts val="400"/>
              </a:spcBef>
              <a:buChar char="–"/>
              <a:tabLst>
                <a:tab pos="716915" algn="l"/>
              </a:tabLst>
            </a:pPr>
            <a:r>
              <a:rPr sz="2000" dirty="0">
                <a:latin typeface="Times New Roman"/>
                <a:cs typeface="Times New Roman"/>
              </a:rPr>
              <a:t>Configuration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 tools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 only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 person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reserve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module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time.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Once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reserved,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725" y="6351268"/>
            <a:ext cx="5902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reserve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until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reserved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restored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8505" y="6263513"/>
            <a:ext cx="285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 indent="-69850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4295" algn="l"/>
              </a:tabLst>
            </a:pPr>
            <a:r>
              <a:rPr sz="1400" spc="-25" dirty="0">
                <a:latin typeface="Arial MT"/>
                <a:cs typeface="Arial MT"/>
              </a:rPr>
              <a:t>38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1555">
              <a:lnSpc>
                <a:spcPct val="100000"/>
              </a:lnSpc>
              <a:spcBef>
                <a:spcPts val="100"/>
              </a:spcBef>
            </a:pPr>
            <a:r>
              <a:rPr dirty="0"/>
              <a:t>Changing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Baseline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775" y="801370"/>
            <a:ext cx="8251825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1090930" algn="l"/>
                <a:tab pos="1585595" algn="l"/>
                <a:tab pos="2292985" algn="l"/>
                <a:tab pos="2619375" algn="l"/>
                <a:tab pos="3466465" algn="l"/>
                <a:tab pos="3835400" algn="l"/>
                <a:tab pos="4583430" algn="l"/>
                <a:tab pos="5290820" algn="l"/>
                <a:tab pos="6788150" algn="l"/>
                <a:tab pos="7700645" algn="l"/>
                <a:tab pos="8068945" algn="l"/>
              </a:tabLst>
            </a:pPr>
            <a:r>
              <a:rPr sz="2000" spc="-20" dirty="0">
                <a:latin typeface="Times New Roman"/>
                <a:cs typeface="Times New Roman"/>
              </a:rPr>
              <a:t>When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one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needs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change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object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under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configuration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control,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provided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10" dirty="0">
                <a:latin typeface="Times New Roman"/>
                <a:cs typeface="Times New Roman"/>
              </a:rPr>
              <a:t> item.</a:t>
            </a:r>
            <a:endParaRPr sz="2000">
              <a:latin typeface="Times New Roman"/>
              <a:cs typeface="Times New Roman"/>
            </a:endParaRPr>
          </a:p>
          <a:p>
            <a:pPr marL="354965" indent="-3041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copy.</a:t>
            </a:r>
            <a:endParaRPr sz="2000">
              <a:latin typeface="Times New Roman"/>
              <a:cs typeface="Times New Roman"/>
            </a:endParaRPr>
          </a:p>
          <a:p>
            <a:pPr marL="355600" marR="6350" indent="-304800">
              <a:lnSpc>
                <a:spcPct val="100000"/>
              </a:lnSpc>
              <a:spcBef>
                <a:spcPts val="400"/>
              </a:spcBef>
              <a:buChar char="•"/>
              <a:tabLst>
                <a:tab pos="355600" algn="l"/>
                <a:tab pos="422275" algn="l"/>
                <a:tab pos="2629535" algn="l"/>
              </a:tabLst>
            </a:pPr>
            <a:r>
              <a:rPr sz="2000" dirty="0">
                <a:latin typeface="Times New Roman"/>
                <a:cs typeface="Times New Roman"/>
              </a:rPr>
              <a:t>	After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modifications,</a:t>
            </a:r>
            <a:r>
              <a:rPr sz="2000" dirty="0">
                <a:latin typeface="Times New Roman"/>
                <a:cs typeface="Times New Roman"/>
              </a:rPr>
              <a:t>	updated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replaces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old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item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line </a:t>
            </a:r>
            <a:r>
              <a:rPr sz="2000" dirty="0">
                <a:latin typeface="Times New Roman"/>
                <a:cs typeface="Times New Roman"/>
              </a:rPr>
              <a:t>gets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formed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dirty="0">
                <a:latin typeface="Times New Roman"/>
                <a:cs typeface="Times New Roman"/>
              </a:rPr>
              <a:t>Reserve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restore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operation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configuration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04800">
              <a:lnSpc>
                <a:spcPct val="100000"/>
              </a:lnSpc>
              <a:spcBef>
                <a:spcPts val="40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obtains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reserve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carries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copy.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04800">
              <a:lnSpc>
                <a:spcPct val="100000"/>
              </a:lnSpc>
              <a:spcBef>
                <a:spcPts val="40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restoring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changed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baseline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permission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board(CCB).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04800">
              <a:lnSpc>
                <a:spcPct val="100000"/>
              </a:lnSpc>
              <a:spcBef>
                <a:spcPts val="40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Except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projects,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CCB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discharged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by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manager</a:t>
            </a:r>
            <a:r>
              <a:rPr sz="2000" spc="-10" dirty="0">
                <a:latin typeface="Times New Roman"/>
                <a:cs typeface="Times New Roman"/>
              </a:rPr>
              <a:t> himself.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0155" y="4509135"/>
            <a:ext cx="4917439" cy="23488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28505" y="6263513"/>
            <a:ext cx="285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 indent="-69850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4295" algn="l"/>
              </a:tabLst>
            </a:pPr>
            <a:r>
              <a:rPr sz="1400" spc="-25" dirty="0">
                <a:latin typeface="Arial MT"/>
                <a:cs typeface="Arial MT"/>
              </a:rPr>
              <a:t>39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3562</Words>
  <Application>Microsoft Office PowerPoint</Application>
  <PresentationFormat>On-screen Show (4:3)</PresentationFormat>
  <Paragraphs>410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Arial MT</vt:lpstr>
      <vt:lpstr>Times New Roman</vt:lpstr>
      <vt:lpstr>Office Theme</vt:lpstr>
      <vt:lpstr>PowerPoint Presentation</vt:lpstr>
      <vt:lpstr>Talkflow</vt:lpstr>
      <vt:lpstr>Monitoring &amp; Measurement of Software Development</vt:lpstr>
      <vt:lpstr>What to M &amp; M???</vt:lpstr>
      <vt:lpstr>contd..</vt:lpstr>
      <vt:lpstr>contd..</vt:lpstr>
      <vt:lpstr>Cost, Size and Time metrics</vt:lpstr>
      <vt:lpstr>Methods for Software Project Metrics</vt:lpstr>
      <vt:lpstr>contd..</vt:lpstr>
      <vt:lpstr>Tools for Metrics in SPM</vt:lpstr>
      <vt:lpstr>Issues of metrics in multiple projects</vt:lpstr>
      <vt:lpstr>contd..</vt:lpstr>
      <vt:lpstr>contd..</vt:lpstr>
      <vt:lpstr>contd..</vt:lpstr>
      <vt:lpstr>Responsibility Chain in Monitoring</vt:lpstr>
      <vt:lpstr>Assessing progress</vt:lpstr>
      <vt:lpstr>Collecting progress details</vt:lpstr>
      <vt:lpstr>Red/Amber/Green reporting</vt:lpstr>
      <vt:lpstr>Review</vt:lpstr>
      <vt:lpstr>Review Roles</vt:lpstr>
      <vt:lpstr>Project Termination Review</vt:lpstr>
      <vt:lpstr>Project Termination Process</vt:lpstr>
      <vt:lpstr>Gantt charts</vt:lpstr>
      <vt:lpstr>Slip Charts</vt:lpstr>
      <vt:lpstr>Cost Monitoring</vt:lpstr>
      <vt:lpstr>Earned value analysis</vt:lpstr>
      <vt:lpstr>An Example:</vt:lpstr>
      <vt:lpstr>Accounting conventions</vt:lpstr>
      <vt:lpstr>Earned Value analysis – actual cost</vt:lpstr>
      <vt:lpstr>contd..</vt:lpstr>
      <vt:lpstr>Earned value chart with revised forecasts</vt:lpstr>
      <vt:lpstr>Prioritizing Monitoring</vt:lpstr>
      <vt:lpstr>Getting back on track: options</vt:lpstr>
      <vt:lpstr>Change Control</vt:lpstr>
      <vt:lpstr>Typical change control process</vt:lpstr>
      <vt:lpstr>Software Configuration Management</vt:lpstr>
      <vt:lpstr>Necessity of SCM</vt:lpstr>
      <vt:lpstr>Configuration item identification</vt:lpstr>
      <vt:lpstr>Changing the Baseline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kiit</cp:lastModifiedBy>
  <cp:revision>1</cp:revision>
  <dcterms:created xsi:type="dcterms:W3CDTF">2026-01-16T05:20:14Z</dcterms:created>
  <dcterms:modified xsi:type="dcterms:W3CDTF">2026-01-19T03:05:48Z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2026-01-16T00:00:00Z</vt:filetime>
  </property>
</Properties>
</file>